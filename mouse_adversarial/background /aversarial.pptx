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58" r:id="rId4"/>
    <p:sldId id="257" r:id="rId5"/>
    <p:sldId id="260" r:id="rId6"/>
    <p:sldId id="261" r:id="rId7"/>
    <p:sldId id="259" r:id="rId8"/>
    <p:sldId id="262" r:id="rId9"/>
    <p:sldId id="263" r:id="rId10"/>
    <p:sldId id="264" r:id="rId11"/>
    <p:sldId id="265" r:id="rId12"/>
    <p:sldId id="266" r:id="rId13"/>
    <p:sldId id="267" r:id="rId14"/>
    <p:sldId id="268" r:id="rId15"/>
    <p:sldId id="269" r:id="rId16"/>
    <p:sldId id="271" r:id="rId17"/>
    <p:sldId id="270" r:id="rId18"/>
    <p:sldId id="272" r:id="rId19"/>
    <p:sldId id="273" r:id="rId20"/>
    <p:sldId id="274" r:id="rId21"/>
    <p:sldId id="275" r:id="rId22"/>
    <p:sldId id="276"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5" autoAdjust="0"/>
    <p:restoredTop sz="94660"/>
  </p:normalViewPr>
  <p:slideViewPr>
    <p:cSldViewPr snapToGrid="0" showGuides="1">
      <p:cViewPr varScale="1">
        <p:scale>
          <a:sx n="149" d="100"/>
          <a:sy n="149" d="100"/>
        </p:scale>
        <p:origin x="100" y="4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420E9-5529-4F3C-9A1D-AFB5F99180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D3E32F-7886-4423-9011-AC886BB64A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807750-67A0-49FC-95CE-9C6583056592}"/>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5" name="Footer Placeholder 4">
            <a:extLst>
              <a:ext uri="{FF2B5EF4-FFF2-40B4-BE49-F238E27FC236}">
                <a16:creationId xmlns:a16="http://schemas.microsoft.com/office/drawing/2014/main" id="{7477D7FD-DDE7-47EC-959B-04512595AC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38B72-A3BB-4656-B75A-BDD7454B0C10}"/>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563934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882C1-C65B-41CF-A9EB-C9D83D8748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D4A4E1-AE41-400F-B7A3-D0E5AEDF7BB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354035-B4A6-437D-808C-8129FBBF80DE}"/>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5" name="Footer Placeholder 4">
            <a:extLst>
              <a:ext uri="{FF2B5EF4-FFF2-40B4-BE49-F238E27FC236}">
                <a16:creationId xmlns:a16="http://schemas.microsoft.com/office/drawing/2014/main" id="{5FF0D855-49DF-480C-8D02-E92A14C34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0B5BC3-F81B-4008-B521-A8BEA15A2FD3}"/>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704350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C4C4E-237F-4A65-BA41-630066420C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1452C2-B0CE-4AE9-80DB-876229B170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F42560A-2417-432B-B44A-6D65AC39A5F7}"/>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5" name="Footer Placeholder 4">
            <a:extLst>
              <a:ext uri="{FF2B5EF4-FFF2-40B4-BE49-F238E27FC236}">
                <a16:creationId xmlns:a16="http://schemas.microsoft.com/office/drawing/2014/main" id="{1D3DCCD5-2A4F-4F27-B730-09CC4BEEA8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3FFDC-F7D8-4A99-BC00-A7AE6205FC2A}"/>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2430451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9A67C-89D4-449B-B823-AC518D598A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CF6DC2-6C44-48A8-942E-2567AD545C6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125099-BE3B-4CDD-83C5-4124101ED5B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502C49-4490-480E-92DF-BF3F6CCCB684}"/>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6" name="Footer Placeholder 5">
            <a:extLst>
              <a:ext uri="{FF2B5EF4-FFF2-40B4-BE49-F238E27FC236}">
                <a16:creationId xmlns:a16="http://schemas.microsoft.com/office/drawing/2014/main" id="{0A253EDD-5D26-4CD8-AE24-3D12F1DDBE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3FB862-9D3D-4317-8AE9-36F6D41BC213}"/>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3165589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7340-8240-48C0-9F9C-5F6272544F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E9C15F-8936-4468-9BB8-E806932161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645CD2F-3ECC-4D71-913C-C9AD428C266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5EEA1E-AD07-4F2D-9586-0D2B12C569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959F9DD-343D-445B-B948-505CA48070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71A893-ADE8-4FF9-A5B7-28ACFCCA0FE1}"/>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8" name="Footer Placeholder 7">
            <a:extLst>
              <a:ext uri="{FF2B5EF4-FFF2-40B4-BE49-F238E27FC236}">
                <a16:creationId xmlns:a16="http://schemas.microsoft.com/office/drawing/2014/main" id="{CC458755-E53D-4CEE-9AC5-0A12E2E240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93116D-069B-4ACD-956C-8CAB5642CF62}"/>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1057773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AD7C4-3A42-4F01-BC60-56F17912EC8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20F857-7F86-4C04-9DE9-9154411F7CDA}"/>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4" name="Footer Placeholder 3">
            <a:extLst>
              <a:ext uri="{FF2B5EF4-FFF2-40B4-BE49-F238E27FC236}">
                <a16:creationId xmlns:a16="http://schemas.microsoft.com/office/drawing/2014/main" id="{ADFCB992-02F8-41B4-B5C1-E3468ED978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347367-7534-444E-8C9B-1A3ED02BF9E0}"/>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36965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6918A2-6D44-4DE2-B092-A7785C8038DC}"/>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3" name="Footer Placeholder 2">
            <a:extLst>
              <a:ext uri="{FF2B5EF4-FFF2-40B4-BE49-F238E27FC236}">
                <a16:creationId xmlns:a16="http://schemas.microsoft.com/office/drawing/2014/main" id="{7BCB3D98-D0C4-4E26-8040-8B95A65801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7296D5-1498-4DBD-956E-DED9E01711DD}"/>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3648126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4AB8E-B2D4-4E9A-B330-3F6C68F3E0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F6C334-5A1D-406A-8606-5DB9A9B161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9A5A6C-2E16-4CC5-9777-98C623671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0FB0DA4-881D-4C72-B42F-8397212E92F8}"/>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6" name="Footer Placeholder 5">
            <a:extLst>
              <a:ext uri="{FF2B5EF4-FFF2-40B4-BE49-F238E27FC236}">
                <a16:creationId xmlns:a16="http://schemas.microsoft.com/office/drawing/2014/main" id="{059B12BA-5568-498A-99AF-031140B0BF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0832D2-6096-40E6-9A0F-2D14A1B33786}"/>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3556855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DC1CA-A380-4C84-81A5-3B7BD1506C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B03258-8566-4C32-A91A-1C1162589C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DB87C43-3A96-4B6B-B885-1C7DFCE695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BB204D2-7B4B-4205-BCAF-667473C7A495}"/>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6" name="Footer Placeholder 5">
            <a:extLst>
              <a:ext uri="{FF2B5EF4-FFF2-40B4-BE49-F238E27FC236}">
                <a16:creationId xmlns:a16="http://schemas.microsoft.com/office/drawing/2014/main" id="{D122721A-D5F9-4352-A62C-281FCC0629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316115-02E1-479C-A8AE-99778969E1D6}"/>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62789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DB5CA-B55C-4505-811E-C92BDCA49C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E4E315-5628-46DB-B005-40A932984B3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6C0D3D-B8AC-47CD-A00F-F3FEEA9A60EF}"/>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5" name="Footer Placeholder 4">
            <a:extLst>
              <a:ext uri="{FF2B5EF4-FFF2-40B4-BE49-F238E27FC236}">
                <a16:creationId xmlns:a16="http://schemas.microsoft.com/office/drawing/2014/main" id="{C7473287-1B6E-4FAE-8C64-A7AE28A209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E39BED-CEF2-490D-8DB6-C1BBFFC5CBDE}"/>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193415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48EEE0-20D8-4EDF-AD6D-3F16350589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8E265B-A147-4E2C-A4E6-6AB3CF66E71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7BDD21-DF5E-444F-9D83-4C50E56B830F}"/>
              </a:ext>
            </a:extLst>
          </p:cNvPr>
          <p:cNvSpPr>
            <a:spLocks noGrp="1"/>
          </p:cNvSpPr>
          <p:nvPr>
            <p:ph type="dt" sz="half" idx="10"/>
          </p:nvPr>
        </p:nvSpPr>
        <p:spPr/>
        <p:txBody>
          <a:bodyPr/>
          <a:lstStyle/>
          <a:p>
            <a:fld id="{478DAEA9-40EE-4258-980C-C73160796CBC}" type="datetimeFigureOut">
              <a:rPr lang="en-US" smtClean="0"/>
              <a:t>11/30/2017</a:t>
            </a:fld>
            <a:endParaRPr lang="en-US"/>
          </a:p>
        </p:txBody>
      </p:sp>
      <p:sp>
        <p:nvSpPr>
          <p:cNvPr id="5" name="Footer Placeholder 4">
            <a:extLst>
              <a:ext uri="{FF2B5EF4-FFF2-40B4-BE49-F238E27FC236}">
                <a16:creationId xmlns:a16="http://schemas.microsoft.com/office/drawing/2014/main" id="{8AB3E83C-BDB0-4613-B672-4B05DBFBA6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B0D7C4-1F84-4C48-8418-BCF669E06153}"/>
              </a:ext>
            </a:extLst>
          </p:cNvPr>
          <p:cNvSpPr>
            <a:spLocks noGrp="1"/>
          </p:cNvSpPr>
          <p:nvPr>
            <p:ph type="sldNum" sz="quarter" idx="12"/>
          </p:nvPr>
        </p:nvSpPr>
        <p:spPr/>
        <p:txBody>
          <a:bodyPr/>
          <a:lstStyle/>
          <a:p>
            <a:fld id="{1ABF8272-979D-4CC7-AAD4-E445352FB622}" type="slidenum">
              <a:rPr lang="en-US" smtClean="0"/>
              <a:t>‹#›</a:t>
            </a:fld>
            <a:endParaRPr lang="en-US"/>
          </a:p>
        </p:txBody>
      </p:sp>
    </p:spTree>
    <p:extLst>
      <p:ext uri="{BB962C8B-B14F-4D97-AF65-F5344CB8AC3E}">
        <p14:creationId xmlns:p14="http://schemas.microsoft.com/office/powerpoint/2010/main" val="2827042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BFF7E-D387-47A0-860C-5BF12A21AA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D39C2E-1306-4264-813C-8AE934AC5A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3F1A47-09E6-489B-94AC-98B66063A4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8DAEA9-40EE-4258-980C-C73160796CBC}" type="datetimeFigureOut">
              <a:rPr lang="en-US" smtClean="0"/>
              <a:t>11/30/2017</a:t>
            </a:fld>
            <a:endParaRPr lang="en-US"/>
          </a:p>
        </p:txBody>
      </p:sp>
      <p:sp>
        <p:nvSpPr>
          <p:cNvPr id="5" name="Footer Placeholder 4">
            <a:extLst>
              <a:ext uri="{FF2B5EF4-FFF2-40B4-BE49-F238E27FC236}">
                <a16:creationId xmlns:a16="http://schemas.microsoft.com/office/drawing/2014/main" id="{E0FD1032-4220-4718-AE27-CC472A92BF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D26C8F-71FB-4E18-A994-67291626EF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BF8272-979D-4CC7-AAD4-E445352FB622}" type="slidenum">
              <a:rPr lang="en-US" smtClean="0"/>
              <a:t>‹#›</a:t>
            </a:fld>
            <a:endParaRPr lang="en-US"/>
          </a:p>
        </p:txBody>
      </p:sp>
    </p:spTree>
    <p:extLst>
      <p:ext uri="{BB962C8B-B14F-4D97-AF65-F5344CB8AC3E}">
        <p14:creationId xmlns:p14="http://schemas.microsoft.com/office/powerpoint/2010/main" val="4005962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E4C0F3-CFCA-497E-A57A-00EA7CE4D00C}"/>
              </a:ext>
            </a:extLst>
          </p:cNvPr>
          <p:cNvPicPr>
            <a:picLocks noChangeAspect="1"/>
          </p:cNvPicPr>
          <p:nvPr/>
        </p:nvPicPr>
        <p:blipFill rotWithShape="1">
          <a:blip r:embed="rId2"/>
          <a:srcRect l="7888" t="28505" r="9947"/>
          <a:stretch/>
        </p:blipFill>
        <p:spPr>
          <a:xfrm>
            <a:off x="993981" y="1921534"/>
            <a:ext cx="10017578" cy="2142015"/>
          </a:xfrm>
          <a:prstGeom prst="rect">
            <a:avLst/>
          </a:prstGeom>
        </p:spPr>
      </p:pic>
    </p:spTree>
    <p:extLst>
      <p:ext uri="{BB962C8B-B14F-4D97-AF65-F5344CB8AC3E}">
        <p14:creationId xmlns:p14="http://schemas.microsoft.com/office/powerpoint/2010/main" val="653137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9BC78F-C164-40A6-A2DD-4756041E1C6C}"/>
              </a:ext>
            </a:extLst>
          </p:cNvPr>
          <p:cNvPicPr>
            <a:picLocks noChangeAspect="1"/>
          </p:cNvPicPr>
          <p:nvPr/>
        </p:nvPicPr>
        <p:blipFill>
          <a:blip r:embed="rId2"/>
          <a:stretch>
            <a:fillRect/>
          </a:stretch>
        </p:blipFill>
        <p:spPr>
          <a:xfrm>
            <a:off x="2465006" y="216353"/>
            <a:ext cx="7261988" cy="642529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828553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DAF597-00B9-4FB0-B1B1-DB57E6123DD1}"/>
              </a:ext>
            </a:extLst>
          </p:cNvPr>
          <p:cNvPicPr>
            <a:picLocks noChangeAspect="1"/>
          </p:cNvPicPr>
          <p:nvPr/>
        </p:nvPicPr>
        <p:blipFill rotWithShape="1">
          <a:blip r:embed="rId2"/>
          <a:srcRect l="5663" t="19164" r="4919" b="2927"/>
          <a:stretch/>
        </p:blipFill>
        <p:spPr>
          <a:xfrm>
            <a:off x="81558" y="57150"/>
            <a:ext cx="4155707" cy="1789228"/>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4C830A6C-9ECE-4A17-922F-597BE5847814}"/>
              </a:ext>
            </a:extLst>
          </p:cNvPr>
          <p:cNvPicPr>
            <a:picLocks noChangeAspect="1"/>
          </p:cNvPicPr>
          <p:nvPr/>
        </p:nvPicPr>
        <p:blipFill rotWithShape="1">
          <a:blip r:embed="rId3"/>
          <a:srcRect l="1782" t="11645" r="2769"/>
          <a:stretch/>
        </p:blipFill>
        <p:spPr>
          <a:xfrm>
            <a:off x="724856" y="2228691"/>
            <a:ext cx="4808763" cy="1019602"/>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B8FBFB23-3E31-4B69-9CC3-C562C9942EE7}"/>
              </a:ext>
            </a:extLst>
          </p:cNvPr>
          <p:cNvPicPr>
            <a:picLocks noChangeAspect="1"/>
          </p:cNvPicPr>
          <p:nvPr/>
        </p:nvPicPr>
        <p:blipFill>
          <a:blip r:embed="rId4"/>
          <a:stretch>
            <a:fillRect/>
          </a:stretch>
        </p:blipFill>
        <p:spPr>
          <a:xfrm>
            <a:off x="6770254" y="2335022"/>
            <a:ext cx="5090268" cy="1664193"/>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E41E84ED-2843-4E79-9B7D-A609C6D212E7}"/>
              </a:ext>
            </a:extLst>
          </p:cNvPr>
          <p:cNvPicPr>
            <a:picLocks noChangeAspect="1"/>
          </p:cNvPicPr>
          <p:nvPr/>
        </p:nvPicPr>
        <p:blipFill>
          <a:blip r:embed="rId5"/>
          <a:stretch>
            <a:fillRect/>
          </a:stretch>
        </p:blipFill>
        <p:spPr>
          <a:xfrm>
            <a:off x="4908968" y="143778"/>
            <a:ext cx="5477793" cy="1942746"/>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F00CF7C7-34D4-46BB-9D3D-F0BABCC91DB5}"/>
              </a:ext>
            </a:extLst>
          </p:cNvPr>
          <p:cNvPicPr>
            <a:picLocks noChangeAspect="1"/>
          </p:cNvPicPr>
          <p:nvPr/>
        </p:nvPicPr>
        <p:blipFill rotWithShape="1">
          <a:blip r:embed="rId6"/>
          <a:srcRect l="3415" r="2663"/>
          <a:stretch/>
        </p:blipFill>
        <p:spPr>
          <a:xfrm>
            <a:off x="8200677" y="4711989"/>
            <a:ext cx="3991323" cy="1801538"/>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FB3F81C6-80D3-4955-9D9D-7F96E6638A79}"/>
              </a:ext>
            </a:extLst>
          </p:cNvPr>
          <p:cNvPicPr>
            <a:picLocks noChangeAspect="1"/>
          </p:cNvPicPr>
          <p:nvPr/>
        </p:nvPicPr>
        <p:blipFill>
          <a:blip r:embed="rId7"/>
          <a:stretch>
            <a:fillRect/>
          </a:stretch>
        </p:blipFill>
        <p:spPr>
          <a:xfrm>
            <a:off x="61903" y="3522962"/>
            <a:ext cx="3253563" cy="1975198"/>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83472CF2-D015-4AC2-8204-25B4E40CCA9A}"/>
              </a:ext>
            </a:extLst>
          </p:cNvPr>
          <p:cNvPicPr>
            <a:picLocks noChangeAspect="1"/>
          </p:cNvPicPr>
          <p:nvPr/>
        </p:nvPicPr>
        <p:blipFill>
          <a:blip r:embed="rId8"/>
          <a:stretch>
            <a:fillRect/>
          </a:stretch>
        </p:blipFill>
        <p:spPr>
          <a:xfrm>
            <a:off x="3540712" y="4141382"/>
            <a:ext cx="4396978" cy="2336704"/>
          </a:xfrm>
          <a:prstGeom prst="rect">
            <a:avLst/>
          </a:prstGeom>
        </p:spPr>
      </p:pic>
    </p:spTree>
    <p:extLst>
      <p:ext uri="{BB962C8B-B14F-4D97-AF65-F5344CB8AC3E}">
        <p14:creationId xmlns:p14="http://schemas.microsoft.com/office/powerpoint/2010/main" val="1589849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1DA1D1-44D1-4CBA-8902-6C7FABE0639B}"/>
              </a:ext>
            </a:extLst>
          </p:cNvPr>
          <p:cNvPicPr>
            <a:picLocks noChangeAspect="1"/>
          </p:cNvPicPr>
          <p:nvPr/>
        </p:nvPicPr>
        <p:blipFill>
          <a:blip r:embed="rId2"/>
          <a:stretch>
            <a:fillRect/>
          </a:stretch>
        </p:blipFill>
        <p:spPr>
          <a:xfrm>
            <a:off x="2529840" y="0"/>
            <a:ext cx="7132320" cy="6858000"/>
          </a:xfrm>
          <a:prstGeom prst="rect">
            <a:avLst/>
          </a:prstGeom>
        </p:spPr>
      </p:pic>
    </p:spTree>
    <p:extLst>
      <p:ext uri="{BB962C8B-B14F-4D97-AF65-F5344CB8AC3E}">
        <p14:creationId xmlns:p14="http://schemas.microsoft.com/office/powerpoint/2010/main" val="3374571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F1DD64-EFF4-4556-9D6D-60D1171C261F}"/>
              </a:ext>
            </a:extLst>
          </p:cNvPr>
          <p:cNvPicPr>
            <a:picLocks noChangeAspect="1"/>
          </p:cNvPicPr>
          <p:nvPr/>
        </p:nvPicPr>
        <p:blipFill>
          <a:blip r:embed="rId2"/>
          <a:stretch>
            <a:fillRect/>
          </a:stretch>
        </p:blipFill>
        <p:spPr>
          <a:xfrm>
            <a:off x="2899530" y="0"/>
            <a:ext cx="6392940" cy="6858000"/>
          </a:xfrm>
          <a:prstGeom prst="rect">
            <a:avLst/>
          </a:prstGeom>
        </p:spPr>
      </p:pic>
      <p:sp>
        <p:nvSpPr>
          <p:cNvPr id="8" name="Rectangle 7">
            <a:extLst>
              <a:ext uri="{FF2B5EF4-FFF2-40B4-BE49-F238E27FC236}">
                <a16:creationId xmlns:a16="http://schemas.microsoft.com/office/drawing/2014/main" id="{69D1940E-146B-4ECE-865B-9DC91847FEFD}"/>
              </a:ext>
            </a:extLst>
          </p:cNvPr>
          <p:cNvSpPr/>
          <p:nvPr/>
        </p:nvSpPr>
        <p:spPr>
          <a:xfrm>
            <a:off x="3041196" y="1378949"/>
            <a:ext cx="457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503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6FAAA0-667C-4E48-BCDE-99F2ECBCD37A}"/>
              </a:ext>
            </a:extLst>
          </p:cNvPr>
          <p:cNvPicPr>
            <a:picLocks noChangeAspect="1"/>
          </p:cNvPicPr>
          <p:nvPr/>
        </p:nvPicPr>
        <p:blipFill rotWithShape="1">
          <a:blip r:embed="rId2"/>
          <a:srcRect l="8278" t="79241" r="3401" b="1484"/>
          <a:stretch/>
        </p:blipFill>
        <p:spPr>
          <a:xfrm>
            <a:off x="167770" y="2041072"/>
            <a:ext cx="11856460" cy="2775857"/>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717257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0383A6-6EC9-4E5D-85FF-C5818EF85588}"/>
              </a:ext>
            </a:extLst>
          </p:cNvPr>
          <p:cNvPicPr>
            <a:picLocks noChangeAspect="1"/>
          </p:cNvPicPr>
          <p:nvPr/>
        </p:nvPicPr>
        <p:blipFill rotWithShape="1">
          <a:blip r:embed="rId2"/>
          <a:srcRect t="9074"/>
          <a:stretch/>
        </p:blipFill>
        <p:spPr>
          <a:xfrm>
            <a:off x="3974597" y="99112"/>
            <a:ext cx="6771912" cy="6659776"/>
          </a:xfrm>
          <a:prstGeom prst="rect">
            <a:avLst/>
          </a:prstGeom>
        </p:spPr>
      </p:pic>
      <p:pic>
        <p:nvPicPr>
          <p:cNvPr id="4" name="Picture 3">
            <a:extLst>
              <a:ext uri="{FF2B5EF4-FFF2-40B4-BE49-F238E27FC236}">
                <a16:creationId xmlns:a16="http://schemas.microsoft.com/office/drawing/2014/main" id="{C6E89347-6DFD-414F-978A-EAD8D36DA518}"/>
              </a:ext>
            </a:extLst>
          </p:cNvPr>
          <p:cNvPicPr>
            <a:picLocks noChangeAspect="1"/>
          </p:cNvPicPr>
          <p:nvPr/>
        </p:nvPicPr>
        <p:blipFill>
          <a:blip r:embed="rId3"/>
          <a:stretch>
            <a:fillRect/>
          </a:stretch>
        </p:blipFill>
        <p:spPr>
          <a:xfrm>
            <a:off x="0" y="-44958"/>
            <a:ext cx="4632195" cy="16428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7329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AC90FB-EBF4-4AE3-B2EF-A4C95BB20D83}"/>
              </a:ext>
            </a:extLst>
          </p:cNvPr>
          <p:cNvPicPr>
            <a:picLocks noChangeAspect="1"/>
          </p:cNvPicPr>
          <p:nvPr/>
        </p:nvPicPr>
        <p:blipFill rotWithShape="1">
          <a:blip r:embed="rId2"/>
          <a:srcRect l="1782" t="11645" r="2769"/>
          <a:stretch/>
        </p:blipFill>
        <p:spPr>
          <a:xfrm>
            <a:off x="166056" y="81237"/>
            <a:ext cx="4808763" cy="1019602"/>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033981CF-9735-4990-B74F-79B9934AE473}"/>
              </a:ext>
            </a:extLst>
          </p:cNvPr>
          <p:cNvPicPr>
            <a:picLocks noChangeAspect="1"/>
          </p:cNvPicPr>
          <p:nvPr/>
        </p:nvPicPr>
        <p:blipFill>
          <a:blip r:embed="rId3"/>
          <a:stretch>
            <a:fillRect/>
          </a:stretch>
        </p:blipFill>
        <p:spPr>
          <a:xfrm>
            <a:off x="0" y="1802129"/>
            <a:ext cx="12192000" cy="4158906"/>
          </a:xfrm>
          <a:prstGeom prst="rect">
            <a:avLst/>
          </a:prstGeom>
        </p:spPr>
      </p:pic>
    </p:spTree>
    <p:extLst>
      <p:ext uri="{BB962C8B-B14F-4D97-AF65-F5344CB8AC3E}">
        <p14:creationId xmlns:p14="http://schemas.microsoft.com/office/powerpoint/2010/main" val="3207861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55976D2-4D6B-4988-9B74-7D8AE4056EA6}"/>
              </a:ext>
            </a:extLst>
          </p:cNvPr>
          <p:cNvPicPr>
            <a:picLocks noChangeAspect="1"/>
          </p:cNvPicPr>
          <p:nvPr/>
        </p:nvPicPr>
        <p:blipFill>
          <a:blip r:embed="rId2"/>
          <a:stretch>
            <a:fillRect/>
          </a:stretch>
        </p:blipFill>
        <p:spPr>
          <a:xfrm>
            <a:off x="3813695" y="32327"/>
            <a:ext cx="7132320" cy="6858000"/>
          </a:xfrm>
          <a:prstGeom prst="rect">
            <a:avLst/>
          </a:prstGeom>
        </p:spPr>
      </p:pic>
      <p:pic>
        <p:nvPicPr>
          <p:cNvPr id="3" name="Picture 2">
            <a:extLst>
              <a:ext uri="{FF2B5EF4-FFF2-40B4-BE49-F238E27FC236}">
                <a16:creationId xmlns:a16="http://schemas.microsoft.com/office/drawing/2014/main" id="{50185FE7-2223-4087-B16C-3ED089ECD57D}"/>
              </a:ext>
            </a:extLst>
          </p:cNvPr>
          <p:cNvPicPr>
            <a:picLocks noChangeAspect="1"/>
          </p:cNvPicPr>
          <p:nvPr/>
        </p:nvPicPr>
        <p:blipFill rotWithShape="1">
          <a:blip r:embed="rId3"/>
          <a:srcRect l="7888" t="28505" r="9947"/>
          <a:stretch/>
        </p:blipFill>
        <p:spPr>
          <a:xfrm>
            <a:off x="0" y="402152"/>
            <a:ext cx="3865418" cy="826525"/>
          </a:xfrm>
          <a:prstGeom prst="rect">
            <a:avLst/>
          </a:prstGeom>
        </p:spPr>
      </p:pic>
    </p:spTree>
    <p:extLst>
      <p:ext uri="{BB962C8B-B14F-4D97-AF65-F5344CB8AC3E}">
        <p14:creationId xmlns:p14="http://schemas.microsoft.com/office/powerpoint/2010/main" val="3506723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02088-88A4-4396-AF3A-A062F22E6158}"/>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327124C2-4A1F-4353-B36A-DA308DB450AC}"/>
              </a:ext>
            </a:extLst>
          </p:cNvPr>
          <p:cNvSpPr>
            <a:spLocks noGrp="1"/>
          </p:cNvSpPr>
          <p:nvPr>
            <p:ph idx="1"/>
          </p:nvPr>
        </p:nvSpPr>
        <p:spPr/>
        <p:txBody>
          <a:bodyPr/>
          <a:lstStyle/>
          <a:p>
            <a:r>
              <a:rPr lang="en-US" dirty="0"/>
              <a:t>Image Recognition</a:t>
            </a:r>
          </a:p>
          <a:p>
            <a:r>
              <a:rPr lang="en-US" dirty="0"/>
              <a:t>Effectiveness</a:t>
            </a:r>
          </a:p>
          <a:p>
            <a:r>
              <a:rPr lang="en-US" dirty="0"/>
              <a:t>Semi-Black-Box-Attack (Requires only black-box feedback, i.e. probabilities but nothing about inside of DNN)</a:t>
            </a:r>
          </a:p>
          <a:p>
            <a:r>
              <a:rPr lang="en-US" dirty="0"/>
              <a:t>Flexibility – can attack more types of DNNs </a:t>
            </a:r>
          </a:p>
          <a:p>
            <a:endParaRPr lang="en-US" dirty="0"/>
          </a:p>
          <a:p>
            <a:r>
              <a:rPr lang="en-US" dirty="0"/>
              <a:t>Why one-pixel?</a:t>
            </a:r>
          </a:p>
          <a:p>
            <a:pPr lvl="1"/>
            <a:r>
              <a:rPr lang="en-US" dirty="0"/>
              <a:t>Analyze the Vicinity of Natural Images</a:t>
            </a:r>
          </a:p>
          <a:p>
            <a:pPr lvl="1"/>
            <a:r>
              <a:rPr lang="en-US" dirty="0"/>
              <a:t>A Measure of Perceptiveness (hiding adversarial modification in practice)</a:t>
            </a:r>
          </a:p>
        </p:txBody>
      </p:sp>
    </p:spTree>
    <p:extLst>
      <p:ext uri="{BB962C8B-B14F-4D97-AF65-F5344CB8AC3E}">
        <p14:creationId xmlns:p14="http://schemas.microsoft.com/office/powerpoint/2010/main" val="3729058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A64670-2AC4-49EB-AA59-E8E0655B99A5}"/>
              </a:ext>
            </a:extLst>
          </p:cNvPr>
          <p:cNvPicPr>
            <a:picLocks noChangeAspect="1"/>
          </p:cNvPicPr>
          <p:nvPr/>
        </p:nvPicPr>
        <p:blipFill>
          <a:blip r:embed="rId2"/>
          <a:stretch>
            <a:fillRect/>
          </a:stretch>
        </p:blipFill>
        <p:spPr>
          <a:xfrm>
            <a:off x="2093542" y="-46182"/>
            <a:ext cx="5400261" cy="6858000"/>
          </a:xfrm>
          <a:prstGeom prst="rect">
            <a:avLst/>
          </a:prstGeom>
        </p:spPr>
      </p:pic>
      <p:pic>
        <p:nvPicPr>
          <p:cNvPr id="5" name="Picture 4">
            <a:extLst>
              <a:ext uri="{FF2B5EF4-FFF2-40B4-BE49-F238E27FC236}">
                <a16:creationId xmlns:a16="http://schemas.microsoft.com/office/drawing/2014/main" id="{C2F0C871-CFE5-49A9-AA2C-468275C8F0B3}"/>
              </a:ext>
            </a:extLst>
          </p:cNvPr>
          <p:cNvPicPr>
            <a:picLocks noChangeAspect="1"/>
          </p:cNvPicPr>
          <p:nvPr/>
        </p:nvPicPr>
        <p:blipFill>
          <a:blip r:embed="rId3"/>
          <a:stretch>
            <a:fillRect/>
          </a:stretch>
        </p:blipFill>
        <p:spPr>
          <a:xfrm>
            <a:off x="8187822" y="106833"/>
            <a:ext cx="3930758" cy="1394077"/>
          </a:xfrm>
          <a:prstGeom prst="rect">
            <a:avLst/>
          </a:prstGeom>
          <a:ln>
            <a:noFill/>
          </a:ln>
          <a:effectLst>
            <a:outerShdw blurRad="292100" dist="139700" dir="2700000" algn="tl" rotWithShape="0">
              <a:srgbClr val="333333">
                <a:alpha val="65000"/>
              </a:srgbClr>
            </a:outerShdw>
          </a:effectLst>
        </p:spPr>
      </p:pic>
      <p:cxnSp>
        <p:nvCxnSpPr>
          <p:cNvPr id="7" name="Straight Arrow Connector 6">
            <a:extLst>
              <a:ext uri="{FF2B5EF4-FFF2-40B4-BE49-F238E27FC236}">
                <a16:creationId xmlns:a16="http://schemas.microsoft.com/office/drawing/2014/main" id="{A5ACE02A-14C6-4241-B5B6-783C4A899CDD}"/>
              </a:ext>
            </a:extLst>
          </p:cNvPr>
          <p:cNvCxnSpPr/>
          <p:nvPr/>
        </p:nvCxnSpPr>
        <p:spPr>
          <a:xfrm flipV="1">
            <a:off x="5592618" y="1579418"/>
            <a:ext cx="3893127" cy="406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6615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22F31-527B-43D6-8089-3AA50D6FAA8A}"/>
              </a:ext>
            </a:extLst>
          </p:cNvPr>
          <p:cNvSpPr>
            <a:spLocks noGrp="1"/>
          </p:cNvSpPr>
          <p:nvPr>
            <p:ph type="title"/>
          </p:nvPr>
        </p:nvSpPr>
        <p:spPr/>
        <p:txBody>
          <a:bodyPr/>
          <a:lstStyle/>
          <a:p>
            <a:r>
              <a:rPr lang="en-US" dirty="0"/>
              <a:t>Obligatory “Math” Slide</a:t>
            </a:r>
          </a:p>
        </p:txBody>
      </p:sp>
      <p:sp>
        <p:nvSpPr>
          <p:cNvPr id="3" name="Content Placeholder 2">
            <a:extLst>
              <a:ext uri="{FF2B5EF4-FFF2-40B4-BE49-F238E27FC236}">
                <a16:creationId xmlns:a16="http://schemas.microsoft.com/office/drawing/2014/main" id="{F1B06AC9-4C94-4C69-BFF6-E372408D07AE}"/>
              </a:ext>
            </a:extLst>
          </p:cNvPr>
          <p:cNvSpPr>
            <a:spLocks noGrp="1"/>
          </p:cNvSpPr>
          <p:nvPr>
            <p:ph idx="1"/>
          </p:nvPr>
        </p:nvSpPr>
        <p:spPr/>
        <p:txBody>
          <a:bodyPr/>
          <a:lstStyle/>
          <a:p>
            <a:r>
              <a:rPr lang="en-US" dirty="0"/>
              <a:t>Define f(</a:t>
            </a:r>
            <a:r>
              <a:rPr lang="en-US" b="1" dirty="0"/>
              <a:t>x)</a:t>
            </a:r>
            <a:r>
              <a:rPr lang="en-US" dirty="0"/>
              <a:t> as the target image classifier</a:t>
            </a:r>
          </a:p>
          <a:p>
            <a:r>
              <a:rPr lang="en-US" b="1" dirty="0"/>
              <a:t>x: </a:t>
            </a:r>
            <a:r>
              <a:rPr lang="en-US" dirty="0"/>
              <a:t>is the image vector (x</a:t>
            </a:r>
            <a:r>
              <a:rPr lang="en-US" baseline="-25000" dirty="0"/>
              <a:t>1</a:t>
            </a:r>
            <a:r>
              <a:rPr lang="en-US" dirty="0"/>
              <a:t>,….,</a:t>
            </a:r>
            <a:r>
              <a:rPr lang="en-US" dirty="0" err="1"/>
              <a:t>x</a:t>
            </a:r>
            <a:r>
              <a:rPr lang="en-US" baseline="-25000" dirty="0" err="1"/>
              <a:t>n</a:t>
            </a:r>
            <a:r>
              <a:rPr lang="en-US" dirty="0"/>
              <a:t>)</a:t>
            </a:r>
          </a:p>
          <a:p>
            <a:r>
              <a:rPr lang="en-US" dirty="0"/>
              <a:t>Probability of </a:t>
            </a:r>
            <a:r>
              <a:rPr lang="en-US" b="1" dirty="0"/>
              <a:t>x </a:t>
            </a:r>
            <a:r>
              <a:rPr lang="en-US" dirty="0"/>
              <a:t>belonging to class </a:t>
            </a:r>
            <a:r>
              <a:rPr lang="en-US" b="1" dirty="0"/>
              <a:t>t </a:t>
            </a:r>
            <a:r>
              <a:rPr lang="en-US" dirty="0"/>
              <a:t>is given as </a:t>
            </a:r>
            <a:r>
              <a:rPr lang="en-US" dirty="0" err="1"/>
              <a:t>f</a:t>
            </a:r>
            <a:r>
              <a:rPr lang="en-US" baseline="-25000" dirty="0" err="1"/>
              <a:t>t</a:t>
            </a:r>
            <a:r>
              <a:rPr lang="en-US" dirty="0"/>
              <a:t>(</a:t>
            </a:r>
            <a:r>
              <a:rPr lang="en-US" b="1" dirty="0"/>
              <a:t>x</a:t>
            </a:r>
            <a:r>
              <a:rPr lang="en-US" dirty="0"/>
              <a:t>)</a:t>
            </a:r>
          </a:p>
          <a:p>
            <a:r>
              <a:rPr lang="en-US" dirty="0"/>
              <a:t>Define the additive perturbation vector e(</a:t>
            </a:r>
            <a:r>
              <a:rPr lang="en-US" b="1" dirty="0"/>
              <a:t>x</a:t>
            </a:r>
            <a:r>
              <a:rPr lang="en-US" dirty="0"/>
              <a:t>) =(e</a:t>
            </a:r>
            <a:r>
              <a:rPr lang="en-US" baseline="-25000" dirty="0"/>
              <a:t>1</a:t>
            </a:r>
            <a:r>
              <a:rPr lang="en-US" dirty="0"/>
              <a:t>,….,</a:t>
            </a:r>
            <a:r>
              <a:rPr lang="en-US" dirty="0" err="1"/>
              <a:t>e</a:t>
            </a:r>
            <a:r>
              <a:rPr lang="en-US" baseline="-25000" dirty="0" err="1"/>
              <a:t>n</a:t>
            </a:r>
            <a:r>
              <a:rPr lang="en-US" dirty="0"/>
              <a:t>)</a:t>
            </a:r>
          </a:p>
          <a:p>
            <a:r>
              <a:rPr lang="en-US" dirty="0"/>
              <a:t>Define</a:t>
            </a:r>
            <a:r>
              <a:rPr lang="en-US" i="1" dirty="0"/>
              <a:t> adv</a:t>
            </a:r>
            <a:r>
              <a:rPr lang="en-US" dirty="0"/>
              <a:t> as the target class </a:t>
            </a:r>
          </a:p>
          <a:p>
            <a:r>
              <a:rPr lang="en-US" dirty="0"/>
              <a:t>Define L as the limit of the modification</a:t>
            </a:r>
          </a:p>
          <a:p>
            <a:endParaRPr lang="en-US" dirty="0"/>
          </a:p>
        </p:txBody>
      </p:sp>
      <p:pic>
        <p:nvPicPr>
          <p:cNvPr id="4" name="Picture 3">
            <a:extLst>
              <a:ext uri="{FF2B5EF4-FFF2-40B4-BE49-F238E27FC236}">
                <a16:creationId xmlns:a16="http://schemas.microsoft.com/office/drawing/2014/main" id="{AC1B202E-BE28-4B58-95D6-84E6B800407D}"/>
              </a:ext>
            </a:extLst>
          </p:cNvPr>
          <p:cNvPicPr>
            <a:picLocks noChangeAspect="1"/>
          </p:cNvPicPr>
          <p:nvPr/>
        </p:nvPicPr>
        <p:blipFill>
          <a:blip r:embed="rId2"/>
          <a:stretch>
            <a:fillRect/>
          </a:stretch>
        </p:blipFill>
        <p:spPr>
          <a:xfrm>
            <a:off x="3468253" y="4977045"/>
            <a:ext cx="4952711" cy="1737646"/>
          </a:xfrm>
          <a:prstGeom prst="rect">
            <a:avLst/>
          </a:prstGeom>
        </p:spPr>
      </p:pic>
    </p:spTree>
    <p:extLst>
      <p:ext uri="{BB962C8B-B14F-4D97-AF65-F5344CB8AC3E}">
        <p14:creationId xmlns:p14="http://schemas.microsoft.com/office/powerpoint/2010/main" val="3342102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74A95-2683-4BE3-9C43-4AAF4EC78B72}"/>
              </a:ext>
            </a:extLst>
          </p:cNvPr>
          <p:cNvSpPr>
            <a:spLocks noGrp="1"/>
          </p:cNvSpPr>
          <p:nvPr>
            <p:ph type="title"/>
          </p:nvPr>
        </p:nvSpPr>
        <p:spPr>
          <a:xfrm>
            <a:off x="136071" y="185511"/>
            <a:ext cx="10515600" cy="1325563"/>
          </a:xfrm>
        </p:spPr>
        <p:txBody>
          <a:bodyPr/>
          <a:lstStyle/>
          <a:p>
            <a:r>
              <a:rPr lang="en-US" dirty="0"/>
              <a:t>Sparse Version</a:t>
            </a:r>
          </a:p>
        </p:txBody>
      </p:sp>
      <p:pic>
        <p:nvPicPr>
          <p:cNvPr id="4" name="Picture 3">
            <a:extLst>
              <a:ext uri="{FF2B5EF4-FFF2-40B4-BE49-F238E27FC236}">
                <a16:creationId xmlns:a16="http://schemas.microsoft.com/office/drawing/2014/main" id="{B35C5499-2853-4AC9-A0BB-48F843DD5ACE}"/>
              </a:ext>
            </a:extLst>
          </p:cNvPr>
          <p:cNvPicPr>
            <a:picLocks noChangeAspect="1"/>
          </p:cNvPicPr>
          <p:nvPr/>
        </p:nvPicPr>
        <p:blipFill>
          <a:blip r:embed="rId2"/>
          <a:stretch>
            <a:fillRect/>
          </a:stretch>
        </p:blipFill>
        <p:spPr>
          <a:xfrm>
            <a:off x="4267345" y="775428"/>
            <a:ext cx="4952711" cy="1737646"/>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C38EDF91-52C5-42BC-824D-3AD517E264CA}"/>
              </a:ext>
            </a:extLst>
          </p:cNvPr>
          <p:cNvPicPr>
            <a:picLocks noChangeAspect="1"/>
          </p:cNvPicPr>
          <p:nvPr/>
        </p:nvPicPr>
        <p:blipFill rotWithShape="1">
          <a:blip r:embed="rId3"/>
          <a:srcRect l="6105" t="12584" r="6350"/>
          <a:stretch/>
        </p:blipFill>
        <p:spPr>
          <a:xfrm>
            <a:off x="2118633" y="3515074"/>
            <a:ext cx="9250135" cy="32012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7" name="Straight Arrow Connector 6">
            <a:extLst>
              <a:ext uri="{FF2B5EF4-FFF2-40B4-BE49-F238E27FC236}">
                <a16:creationId xmlns:a16="http://schemas.microsoft.com/office/drawing/2014/main" id="{31B26E8F-9BD0-4BB2-931E-A5A51DA85265}"/>
              </a:ext>
            </a:extLst>
          </p:cNvPr>
          <p:cNvCxnSpPr>
            <a:stCxn id="4" idx="2"/>
            <a:endCxn id="5" idx="0"/>
          </p:cNvCxnSpPr>
          <p:nvPr/>
        </p:nvCxnSpPr>
        <p:spPr>
          <a:xfrm>
            <a:off x="6743701" y="2513074"/>
            <a:ext cx="0" cy="100200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156303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4ED489-2A2D-46D8-80D5-10B1AEE23738}"/>
              </a:ext>
            </a:extLst>
          </p:cNvPr>
          <p:cNvSpPr>
            <a:spLocks noGrp="1"/>
          </p:cNvSpPr>
          <p:nvPr>
            <p:ph type="title"/>
          </p:nvPr>
        </p:nvSpPr>
        <p:spPr/>
        <p:txBody>
          <a:bodyPr/>
          <a:lstStyle/>
          <a:p>
            <a:r>
              <a:rPr lang="en-US" dirty="0"/>
              <a:t>Optimization</a:t>
            </a:r>
          </a:p>
        </p:txBody>
      </p:sp>
      <p:sp>
        <p:nvSpPr>
          <p:cNvPr id="4" name="Content Placeholder 3">
            <a:extLst>
              <a:ext uri="{FF2B5EF4-FFF2-40B4-BE49-F238E27FC236}">
                <a16:creationId xmlns:a16="http://schemas.microsoft.com/office/drawing/2014/main" id="{A5E8E5A9-85BE-4221-BFC0-CD7A30C4EED5}"/>
              </a:ext>
            </a:extLst>
          </p:cNvPr>
          <p:cNvSpPr>
            <a:spLocks noGrp="1"/>
          </p:cNvSpPr>
          <p:nvPr>
            <p:ph idx="1"/>
          </p:nvPr>
        </p:nvSpPr>
        <p:spPr/>
        <p:txBody>
          <a:bodyPr/>
          <a:lstStyle/>
          <a:p>
            <a:r>
              <a:rPr lang="en-US" dirty="0"/>
              <a:t>Will not discuss here</a:t>
            </a:r>
          </a:p>
          <a:p>
            <a:endParaRPr lang="en-US" dirty="0"/>
          </a:p>
          <a:p>
            <a:r>
              <a:rPr lang="en-US" dirty="0"/>
              <a:t>The use of a method called “Differential Evolution”</a:t>
            </a:r>
          </a:p>
          <a:p>
            <a:pPr lvl="1"/>
            <a:r>
              <a:rPr lang="en-US" dirty="0"/>
              <a:t>Evolutionary algorithm</a:t>
            </a:r>
          </a:p>
          <a:p>
            <a:pPr lvl="1"/>
            <a:r>
              <a:rPr lang="en-US" dirty="0"/>
              <a:t>Key is that this does not use Gradient Information so Objective function need not be known (though I guess they can always try numerical differentiation)</a:t>
            </a:r>
          </a:p>
          <a:p>
            <a:pPr lvl="1"/>
            <a:endParaRPr lang="en-US" dirty="0"/>
          </a:p>
          <a:p>
            <a:pPr lvl="1"/>
            <a:endParaRPr lang="en-US" dirty="0"/>
          </a:p>
          <a:p>
            <a:endParaRPr lang="en-US" dirty="0"/>
          </a:p>
        </p:txBody>
      </p:sp>
    </p:spTree>
    <p:extLst>
      <p:ext uri="{BB962C8B-B14F-4D97-AF65-F5344CB8AC3E}">
        <p14:creationId xmlns:p14="http://schemas.microsoft.com/office/powerpoint/2010/main" val="1802532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396EB-DDA1-4238-BE3A-375C6D4F503F}"/>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E7A65D72-BE1E-45FB-B5A8-0E566711BDE2}"/>
              </a:ext>
            </a:extLst>
          </p:cNvPr>
          <p:cNvSpPr>
            <a:spLocks noGrp="1"/>
          </p:cNvSpPr>
          <p:nvPr>
            <p:ph idx="1"/>
          </p:nvPr>
        </p:nvSpPr>
        <p:spPr>
          <a:xfrm>
            <a:off x="838200" y="1825625"/>
            <a:ext cx="5236152" cy="4351338"/>
          </a:xfrm>
        </p:spPr>
        <p:txBody>
          <a:bodyPr/>
          <a:lstStyle/>
          <a:p>
            <a:r>
              <a:rPr lang="en-US" dirty="0"/>
              <a:t>Test again 3 types of networks</a:t>
            </a:r>
          </a:p>
          <a:p>
            <a:pPr lvl="1"/>
            <a:r>
              <a:rPr lang="en-US" dirty="0"/>
              <a:t>All Convolutional Network</a:t>
            </a:r>
          </a:p>
          <a:p>
            <a:pPr lvl="1"/>
            <a:r>
              <a:rPr lang="en-US" dirty="0"/>
              <a:t>Network-in-Network</a:t>
            </a:r>
          </a:p>
          <a:p>
            <a:pPr lvl="1"/>
            <a:r>
              <a:rPr lang="en-US" dirty="0"/>
              <a:t>VGG16</a:t>
            </a:r>
          </a:p>
          <a:p>
            <a:pPr lvl="1"/>
            <a:endParaRPr lang="en-US" dirty="0"/>
          </a:p>
          <a:p>
            <a:r>
              <a:rPr lang="en-US" dirty="0"/>
              <a:t>Cifar-10 data set (10 classes)</a:t>
            </a:r>
          </a:p>
          <a:p>
            <a:endParaRPr lang="en-US" dirty="0"/>
          </a:p>
          <a:p>
            <a:r>
              <a:rPr lang="en-US" dirty="0"/>
              <a:t>Selected 500 natural images to contact the attack</a:t>
            </a:r>
          </a:p>
        </p:txBody>
      </p:sp>
      <p:pic>
        <p:nvPicPr>
          <p:cNvPr id="4" name="Picture 3">
            <a:extLst>
              <a:ext uri="{FF2B5EF4-FFF2-40B4-BE49-F238E27FC236}">
                <a16:creationId xmlns:a16="http://schemas.microsoft.com/office/drawing/2014/main" id="{C5885761-F86A-463D-AA37-D6199DB9BF2C}"/>
              </a:ext>
            </a:extLst>
          </p:cNvPr>
          <p:cNvPicPr>
            <a:picLocks noChangeAspect="1"/>
          </p:cNvPicPr>
          <p:nvPr/>
        </p:nvPicPr>
        <p:blipFill>
          <a:blip r:embed="rId2"/>
          <a:stretch>
            <a:fillRect/>
          </a:stretch>
        </p:blipFill>
        <p:spPr>
          <a:xfrm>
            <a:off x="6377488" y="46183"/>
            <a:ext cx="5151514" cy="4378036"/>
          </a:xfrm>
          <a:prstGeom prst="rect">
            <a:avLst/>
          </a:prstGeom>
        </p:spPr>
      </p:pic>
      <p:pic>
        <p:nvPicPr>
          <p:cNvPr id="5" name="Picture 4">
            <a:extLst>
              <a:ext uri="{FF2B5EF4-FFF2-40B4-BE49-F238E27FC236}">
                <a16:creationId xmlns:a16="http://schemas.microsoft.com/office/drawing/2014/main" id="{B2AF8C85-B215-4963-9971-B9A0D288ABFA}"/>
              </a:ext>
            </a:extLst>
          </p:cNvPr>
          <p:cNvPicPr>
            <a:picLocks noChangeAspect="1"/>
          </p:cNvPicPr>
          <p:nvPr/>
        </p:nvPicPr>
        <p:blipFill>
          <a:blip r:embed="rId3"/>
          <a:stretch>
            <a:fillRect/>
          </a:stretch>
        </p:blipFill>
        <p:spPr>
          <a:xfrm>
            <a:off x="6663170" y="597694"/>
            <a:ext cx="4865832" cy="4702897"/>
          </a:xfrm>
          <a:prstGeom prst="rect">
            <a:avLst/>
          </a:prstGeom>
        </p:spPr>
      </p:pic>
      <p:pic>
        <p:nvPicPr>
          <p:cNvPr id="6" name="Picture 5">
            <a:extLst>
              <a:ext uri="{FF2B5EF4-FFF2-40B4-BE49-F238E27FC236}">
                <a16:creationId xmlns:a16="http://schemas.microsoft.com/office/drawing/2014/main" id="{A282836F-B19F-4F07-A247-BD4A9E09AD60}"/>
              </a:ext>
            </a:extLst>
          </p:cNvPr>
          <p:cNvPicPr>
            <a:picLocks noChangeAspect="1"/>
          </p:cNvPicPr>
          <p:nvPr/>
        </p:nvPicPr>
        <p:blipFill rotWithShape="1">
          <a:blip r:embed="rId4"/>
          <a:srcRect t="2928"/>
          <a:stretch/>
        </p:blipFill>
        <p:spPr>
          <a:xfrm>
            <a:off x="7304078" y="408214"/>
            <a:ext cx="4813742" cy="6359979"/>
          </a:xfrm>
          <a:prstGeom prst="rect">
            <a:avLst/>
          </a:prstGeom>
        </p:spPr>
      </p:pic>
    </p:spTree>
    <p:extLst>
      <p:ext uri="{BB962C8B-B14F-4D97-AF65-F5344CB8AC3E}">
        <p14:creationId xmlns:p14="http://schemas.microsoft.com/office/powerpoint/2010/main" val="1573345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3322C-C0D5-4A50-BB93-2FAB9F336A11}"/>
              </a:ext>
            </a:extLst>
          </p:cNvPr>
          <p:cNvSpPr>
            <a:spLocks noGrp="1"/>
          </p:cNvSpPr>
          <p:nvPr>
            <p:ph type="title"/>
          </p:nvPr>
        </p:nvSpPr>
        <p:spPr/>
        <p:txBody>
          <a:bodyPr/>
          <a:lstStyle/>
          <a:p>
            <a:r>
              <a:rPr lang="en-US" dirty="0"/>
              <a:t>Some Terms</a:t>
            </a:r>
          </a:p>
        </p:txBody>
      </p:sp>
      <p:sp>
        <p:nvSpPr>
          <p:cNvPr id="3" name="Content Placeholder 2">
            <a:extLst>
              <a:ext uri="{FF2B5EF4-FFF2-40B4-BE49-F238E27FC236}">
                <a16:creationId xmlns:a16="http://schemas.microsoft.com/office/drawing/2014/main" id="{60750D76-0A36-4E44-AE49-7AC06BF47ABD}"/>
              </a:ext>
            </a:extLst>
          </p:cNvPr>
          <p:cNvSpPr>
            <a:spLocks noGrp="1"/>
          </p:cNvSpPr>
          <p:nvPr>
            <p:ph idx="1"/>
          </p:nvPr>
        </p:nvSpPr>
        <p:spPr/>
        <p:txBody>
          <a:bodyPr>
            <a:normAutofit/>
          </a:bodyPr>
          <a:lstStyle/>
          <a:p>
            <a:r>
              <a:rPr lang="en-US" sz="2400" b="1" dirty="0"/>
              <a:t>Non-targeted attack:</a:t>
            </a:r>
            <a:r>
              <a:rPr lang="en-US" sz="2400" dirty="0"/>
              <a:t> Change the label</a:t>
            </a:r>
          </a:p>
          <a:p>
            <a:r>
              <a:rPr lang="en-US" sz="2400" b="1" dirty="0"/>
              <a:t>Targeted attack: </a:t>
            </a:r>
            <a:r>
              <a:rPr lang="en-US" sz="2400" dirty="0"/>
              <a:t>Change the label to specific value</a:t>
            </a:r>
          </a:p>
          <a:p>
            <a:r>
              <a:rPr lang="en-US" sz="2400" b="1" dirty="0"/>
              <a:t>Success Rate: </a:t>
            </a:r>
            <a:r>
              <a:rPr lang="en-US" sz="2400" dirty="0"/>
              <a:t>% of adversarial images that were successfully classified (misclassified)</a:t>
            </a:r>
          </a:p>
          <a:p>
            <a:r>
              <a:rPr lang="en-US" sz="2400" b="1" dirty="0"/>
              <a:t>Adversarial Probability Labels: </a:t>
            </a:r>
            <a:r>
              <a:rPr lang="en-US" sz="2400" dirty="0"/>
              <a:t>Accumulates the values of probability label of the target class for each successful perturbation, then divided by the total number of successful perturbations. The measure indicates the  average confidence given by the target system when misclassifying adversarial samples.</a:t>
            </a:r>
          </a:p>
        </p:txBody>
      </p:sp>
    </p:spTree>
    <p:extLst>
      <p:ext uri="{BB962C8B-B14F-4D97-AF65-F5344CB8AC3E}">
        <p14:creationId xmlns:p14="http://schemas.microsoft.com/office/powerpoint/2010/main" val="579290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68D70-4B37-41BD-A62B-97B9A3EE04FB}"/>
              </a:ext>
            </a:extLst>
          </p:cNvPr>
          <p:cNvSpPr>
            <a:spLocks noGrp="1"/>
          </p:cNvSpPr>
          <p:nvPr>
            <p:ph type="title"/>
          </p:nvPr>
        </p:nvSpPr>
        <p:spPr/>
        <p:txBody>
          <a:bodyPr/>
          <a:lstStyle/>
          <a:p>
            <a:r>
              <a:rPr lang="en-US" dirty="0"/>
              <a:t>One-pixel attack results</a:t>
            </a:r>
          </a:p>
        </p:txBody>
      </p:sp>
      <p:pic>
        <p:nvPicPr>
          <p:cNvPr id="9" name="Content Placeholder 8">
            <a:extLst>
              <a:ext uri="{FF2B5EF4-FFF2-40B4-BE49-F238E27FC236}">
                <a16:creationId xmlns:a16="http://schemas.microsoft.com/office/drawing/2014/main" id="{CDD855AE-6601-40E2-B25D-30ED2696FD0D}"/>
              </a:ext>
            </a:extLst>
          </p:cNvPr>
          <p:cNvPicPr>
            <a:picLocks noGrp="1" noChangeAspect="1"/>
          </p:cNvPicPr>
          <p:nvPr>
            <p:ph sz="half" idx="4294967295"/>
          </p:nvPr>
        </p:nvPicPr>
        <p:blipFill>
          <a:blip r:embed="rId2"/>
          <a:stretch>
            <a:fillRect/>
          </a:stretch>
        </p:blipFill>
        <p:spPr>
          <a:xfrm>
            <a:off x="2236334" y="2035402"/>
            <a:ext cx="7719332" cy="3838380"/>
          </a:xfrm>
          <a:prstGeom prst="rect">
            <a:avLst/>
          </a:prstGeom>
        </p:spPr>
      </p:pic>
    </p:spTree>
    <p:extLst>
      <p:ext uri="{BB962C8B-B14F-4D97-AF65-F5344CB8AC3E}">
        <p14:creationId xmlns:p14="http://schemas.microsoft.com/office/powerpoint/2010/main" val="3068746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A2FDB-6F7D-4125-8462-3E5495E9B4A6}"/>
              </a:ext>
            </a:extLst>
          </p:cNvPr>
          <p:cNvSpPr>
            <a:spLocks noGrp="1"/>
          </p:cNvSpPr>
          <p:nvPr>
            <p:ph type="title"/>
          </p:nvPr>
        </p:nvSpPr>
        <p:spPr/>
        <p:txBody>
          <a:bodyPr/>
          <a:lstStyle/>
          <a:p>
            <a:r>
              <a:rPr lang="en-US" dirty="0"/>
              <a:t>1,3,5 pixel attacks</a:t>
            </a:r>
          </a:p>
        </p:txBody>
      </p:sp>
      <p:pic>
        <p:nvPicPr>
          <p:cNvPr id="3" name="Picture 2">
            <a:extLst>
              <a:ext uri="{FF2B5EF4-FFF2-40B4-BE49-F238E27FC236}">
                <a16:creationId xmlns:a16="http://schemas.microsoft.com/office/drawing/2014/main" id="{417F74D3-41AD-4FD5-9095-6C287EEC58D5}"/>
              </a:ext>
            </a:extLst>
          </p:cNvPr>
          <p:cNvPicPr>
            <a:picLocks noChangeAspect="1"/>
          </p:cNvPicPr>
          <p:nvPr/>
        </p:nvPicPr>
        <p:blipFill>
          <a:blip r:embed="rId2"/>
          <a:stretch>
            <a:fillRect/>
          </a:stretch>
        </p:blipFill>
        <p:spPr>
          <a:xfrm>
            <a:off x="776481" y="2105891"/>
            <a:ext cx="10639038" cy="4652818"/>
          </a:xfrm>
          <a:prstGeom prst="rect">
            <a:avLst/>
          </a:prstGeom>
        </p:spPr>
      </p:pic>
    </p:spTree>
    <p:extLst>
      <p:ext uri="{BB962C8B-B14F-4D97-AF65-F5344CB8AC3E}">
        <p14:creationId xmlns:p14="http://schemas.microsoft.com/office/powerpoint/2010/main" val="3335419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A32823-EF42-4664-AB0F-B23B5473C638}"/>
              </a:ext>
            </a:extLst>
          </p:cNvPr>
          <p:cNvPicPr>
            <a:picLocks noChangeAspect="1"/>
          </p:cNvPicPr>
          <p:nvPr/>
        </p:nvPicPr>
        <p:blipFill>
          <a:blip r:embed="rId2"/>
          <a:stretch>
            <a:fillRect/>
          </a:stretch>
        </p:blipFill>
        <p:spPr>
          <a:xfrm>
            <a:off x="0" y="0"/>
            <a:ext cx="6022700" cy="6858000"/>
          </a:xfrm>
          <a:prstGeom prst="rect">
            <a:avLst/>
          </a:prstGeom>
        </p:spPr>
      </p:pic>
      <p:pic>
        <p:nvPicPr>
          <p:cNvPr id="4" name="Picture 3">
            <a:extLst>
              <a:ext uri="{FF2B5EF4-FFF2-40B4-BE49-F238E27FC236}">
                <a16:creationId xmlns:a16="http://schemas.microsoft.com/office/drawing/2014/main" id="{F9B5D4F3-B393-48B7-B28F-5CE18BD5D2CA}"/>
              </a:ext>
            </a:extLst>
          </p:cNvPr>
          <p:cNvPicPr>
            <a:picLocks noChangeAspect="1"/>
          </p:cNvPicPr>
          <p:nvPr/>
        </p:nvPicPr>
        <p:blipFill>
          <a:blip r:embed="rId3"/>
          <a:stretch>
            <a:fillRect/>
          </a:stretch>
        </p:blipFill>
        <p:spPr>
          <a:xfrm>
            <a:off x="6340763" y="0"/>
            <a:ext cx="5851237" cy="4422068"/>
          </a:xfrm>
          <a:prstGeom prst="rect">
            <a:avLst/>
          </a:prstGeom>
        </p:spPr>
      </p:pic>
      <p:pic>
        <p:nvPicPr>
          <p:cNvPr id="5" name="Picture 4">
            <a:extLst>
              <a:ext uri="{FF2B5EF4-FFF2-40B4-BE49-F238E27FC236}">
                <a16:creationId xmlns:a16="http://schemas.microsoft.com/office/drawing/2014/main" id="{8BBD9507-19FD-4D00-A257-C6844C5B3284}"/>
              </a:ext>
            </a:extLst>
          </p:cNvPr>
          <p:cNvPicPr>
            <a:picLocks noChangeAspect="1"/>
          </p:cNvPicPr>
          <p:nvPr/>
        </p:nvPicPr>
        <p:blipFill>
          <a:blip r:embed="rId4"/>
          <a:stretch>
            <a:fillRect/>
          </a:stretch>
        </p:blipFill>
        <p:spPr>
          <a:xfrm>
            <a:off x="6043370" y="5158509"/>
            <a:ext cx="6148630" cy="169949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57146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8018B5-8705-4220-A258-B2970FD5E6EF}"/>
              </a:ext>
            </a:extLst>
          </p:cNvPr>
          <p:cNvPicPr>
            <a:picLocks noChangeAspect="1"/>
          </p:cNvPicPr>
          <p:nvPr/>
        </p:nvPicPr>
        <p:blipFill>
          <a:blip r:embed="rId2"/>
          <a:stretch>
            <a:fillRect/>
          </a:stretch>
        </p:blipFill>
        <p:spPr>
          <a:xfrm>
            <a:off x="87745" y="0"/>
            <a:ext cx="8308606" cy="6858000"/>
          </a:xfrm>
          <a:prstGeom prst="rect">
            <a:avLst/>
          </a:prstGeom>
        </p:spPr>
      </p:pic>
      <p:pic>
        <p:nvPicPr>
          <p:cNvPr id="3" name="Picture 2">
            <a:extLst>
              <a:ext uri="{FF2B5EF4-FFF2-40B4-BE49-F238E27FC236}">
                <a16:creationId xmlns:a16="http://schemas.microsoft.com/office/drawing/2014/main" id="{B4245100-1609-40C6-8BFA-2B02FD396260}"/>
              </a:ext>
            </a:extLst>
          </p:cNvPr>
          <p:cNvPicPr>
            <a:picLocks noChangeAspect="1"/>
          </p:cNvPicPr>
          <p:nvPr/>
        </p:nvPicPr>
        <p:blipFill rotWithShape="1">
          <a:blip r:embed="rId3"/>
          <a:srcRect l="3415" r="2663"/>
          <a:stretch/>
        </p:blipFill>
        <p:spPr>
          <a:xfrm>
            <a:off x="8066883" y="2672492"/>
            <a:ext cx="3991323" cy="1801538"/>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BAC1D885-B84C-42B9-B6B4-AB88C13213E5}"/>
              </a:ext>
            </a:extLst>
          </p:cNvPr>
          <p:cNvPicPr>
            <a:picLocks noChangeAspect="1"/>
          </p:cNvPicPr>
          <p:nvPr/>
        </p:nvPicPr>
        <p:blipFill>
          <a:blip r:embed="rId4"/>
          <a:stretch>
            <a:fillRect/>
          </a:stretch>
        </p:blipFill>
        <p:spPr>
          <a:xfrm>
            <a:off x="8569556" y="4727894"/>
            <a:ext cx="3253563" cy="1975198"/>
          </a:xfrm>
          <a:prstGeom prst="rect">
            <a:avLst/>
          </a:prstGeom>
          <a:ln>
            <a:noFill/>
          </a:ln>
          <a:effectLst>
            <a:outerShdw blurRad="292100" dist="139700" dir="2700000" algn="tl" rotWithShape="0">
              <a:srgbClr val="333333">
                <a:alpha val="65000"/>
              </a:srgbClr>
            </a:outerShdw>
          </a:effectLst>
        </p:spPr>
      </p:pic>
      <p:cxnSp>
        <p:nvCxnSpPr>
          <p:cNvPr id="5" name="Straight Arrow Connector 4">
            <a:extLst>
              <a:ext uri="{FF2B5EF4-FFF2-40B4-BE49-F238E27FC236}">
                <a16:creationId xmlns:a16="http://schemas.microsoft.com/office/drawing/2014/main" id="{3ACCE3AD-628F-440F-950D-8C20A155AF1E}"/>
              </a:ext>
            </a:extLst>
          </p:cNvPr>
          <p:cNvCxnSpPr>
            <a:cxnSpLocks/>
            <a:endCxn id="3" idx="1"/>
          </p:cNvCxnSpPr>
          <p:nvPr/>
        </p:nvCxnSpPr>
        <p:spPr>
          <a:xfrm flipV="1">
            <a:off x="7564211" y="3573261"/>
            <a:ext cx="502672" cy="370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5C7EC82-916C-4901-A100-94AB16FF6004}"/>
              </a:ext>
            </a:extLst>
          </p:cNvPr>
          <p:cNvCxnSpPr>
            <a:cxnSpLocks/>
            <a:endCxn id="4" idx="1"/>
          </p:cNvCxnSpPr>
          <p:nvPr/>
        </p:nvCxnSpPr>
        <p:spPr>
          <a:xfrm>
            <a:off x="7625443" y="4657725"/>
            <a:ext cx="944113" cy="1057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7802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BD1B5E-A6B4-4D36-A522-3E7111037628}"/>
              </a:ext>
            </a:extLst>
          </p:cNvPr>
          <p:cNvPicPr>
            <a:picLocks noChangeAspect="1"/>
          </p:cNvPicPr>
          <p:nvPr/>
        </p:nvPicPr>
        <p:blipFill rotWithShape="1">
          <a:blip r:embed="rId2"/>
          <a:srcRect b="25859"/>
          <a:stretch/>
        </p:blipFill>
        <p:spPr>
          <a:xfrm>
            <a:off x="234104" y="237279"/>
            <a:ext cx="5633296" cy="6383443"/>
          </a:xfrm>
          <a:prstGeom prst="rect">
            <a:avLst/>
          </a:prstGeom>
        </p:spPr>
      </p:pic>
      <p:pic>
        <p:nvPicPr>
          <p:cNvPr id="3" name="Picture 2">
            <a:extLst>
              <a:ext uri="{FF2B5EF4-FFF2-40B4-BE49-F238E27FC236}">
                <a16:creationId xmlns:a16="http://schemas.microsoft.com/office/drawing/2014/main" id="{7A1039D8-92C1-468E-865B-A83B2B527C15}"/>
              </a:ext>
            </a:extLst>
          </p:cNvPr>
          <p:cNvPicPr>
            <a:picLocks noChangeAspect="1"/>
          </p:cNvPicPr>
          <p:nvPr/>
        </p:nvPicPr>
        <p:blipFill rotWithShape="1">
          <a:blip r:embed="rId2"/>
          <a:srcRect t="76726"/>
          <a:stretch/>
        </p:blipFill>
        <p:spPr>
          <a:xfrm>
            <a:off x="5360931" y="2232932"/>
            <a:ext cx="6724915" cy="2392136"/>
          </a:xfrm>
          <a:prstGeom prst="rect">
            <a:avLst/>
          </a:prstGeom>
        </p:spPr>
      </p:pic>
    </p:spTree>
    <p:extLst>
      <p:ext uri="{BB962C8B-B14F-4D97-AF65-F5344CB8AC3E}">
        <p14:creationId xmlns:p14="http://schemas.microsoft.com/office/powerpoint/2010/main" val="1614360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2EC334-4B36-4A98-8D15-FE007E318AFC}"/>
              </a:ext>
            </a:extLst>
          </p:cNvPr>
          <p:cNvPicPr>
            <a:picLocks noChangeAspect="1"/>
          </p:cNvPicPr>
          <p:nvPr/>
        </p:nvPicPr>
        <p:blipFill>
          <a:blip r:embed="rId2"/>
          <a:stretch>
            <a:fillRect/>
          </a:stretch>
        </p:blipFill>
        <p:spPr>
          <a:xfrm>
            <a:off x="164027" y="94507"/>
            <a:ext cx="5590228" cy="5344961"/>
          </a:xfrm>
          <a:prstGeom prst="rect">
            <a:avLst/>
          </a:prstGeom>
        </p:spPr>
      </p:pic>
      <p:pic>
        <p:nvPicPr>
          <p:cNvPr id="3" name="Picture 2">
            <a:extLst>
              <a:ext uri="{FF2B5EF4-FFF2-40B4-BE49-F238E27FC236}">
                <a16:creationId xmlns:a16="http://schemas.microsoft.com/office/drawing/2014/main" id="{437F25BC-DA2E-4ADE-9181-E2C11BC3B748}"/>
              </a:ext>
            </a:extLst>
          </p:cNvPr>
          <p:cNvPicPr>
            <a:picLocks noChangeAspect="1"/>
          </p:cNvPicPr>
          <p:nvPr/>
        </p:nvPicPr>
        <p:blipFill>
          <a:blip r:embed="rId3"/>
          <a:stretch>
            <a:fillRect/>
          </a:stretch>
        </p:blipFill>
        <p:spPr>
          <a:xfrm>
            <a:off x="6188362" y="176816"/>
            <a:ext cx="5467929" cy="2659444"/>
          </a:xfrm>
          <a:prstGeom prst="rect">
            <a:avLst/>
          </a:prstGeom>
        </p:spPr>
      </p:pic>
    </p:spTree>
    <p:extLst>
      <p:ext uri="{BB962C8B-B14F-4D97-AF65-F5344CB8AC3E}">
        <p14:creationId xmlns:p14="http://schemas.microsoft.com/office/powerpoint/2010/main" val="1498426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FBF18-303B-4F5A-948B-79ABEFF0ACD5}"/>
              </a:ext>
            </a:extLst>
          </p:cNvPr>
          <p:cNvSpPr>
            <a:spLocks noGrp="1"/>
          </p:cNvSpPr>
          <p:nvPr>
            <p:ph type="title"/>
          </p:nvPr>
        </p:nvSpPr>
        <p:spPr/>
        <p:txBody>
          <a:bodyPr/>
          <a:lstStyle/>
          <a:p>
            <a:r>
              <a:rPr lang="en-US" dirty="0"/>
              <a:t>Classifier Example</a:t>
            </a:r>
          </a:p>
        </p:txBody>
      </p:sp>
      <p:grpSp>
        <p:nvGrpSpPr>
          <p:cNvPr id="24" name="Group 23">
            <a:extLst>
              <a:ext uri="{FF2B5EF4-FFF2-40B4-BE49-F238E27FC236}">
                <a16:creationId xmlns:a16="http://schemas.microsoft.com/office/drawing/2014/main" id="{1BD7A321-761B-4AB6-8081-C8CDCF0756D5}"/>
              </a:ext>
            </a:extLst>
          </p:cNvPr>
          <p:cNvGrpSpPr/>
          <p:nvPr/>
        </p:nvGrpSpPr>
        <p:grpSpPr>
          <a:xfrm>
            <a:off x="1530058" y="2639262"/>
            <a:ext cx="1529738" cy="2860529"/>
            <a:chOff x="3278513" y="2524484"/>
            <a:chExt cx="1529738" cy="2860529"/>
          </a:xfrm>
        </p:grpSpPr>
        <p:sp>
          <p:nvSpPr>
            <p:cNvPr id="3" name="Circle: Hollow 2">
              <a:extLst>
                <a:ext uri="{FF2B5EF4-FFF2-40B4-BE49-F238E27FC236}">
                  <a16:creationId xmlns:a16="http://schemas.microsoft.com/office/drawing/2014/main" id="{1296497C-484D-4F14-845D-FE1882EC90BC}"/>
                </a:ext>
              </a:extLst>
            </p:cNvPr>
            <p:cNvSpPr/>
            <p:nvPr/>
          </p:nvSpPr>
          <p:spPr>
            <a:xfrm>
              <a:off x="3278513" y="2559555"/>
              <a:ext cx="447635" cy="447635"/>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Circle: Hollow 3">
              <a:extLst>
                <a:ext uri="{FF2B5EF4-FFF2-40B4-BE49-F238E27FC236}">
                  <a16:creationId xmlns:a16="http://schemas.microsoft.com/office/drawing/2014/main" id="{656F71E6-AE57-4105-B9E0-C42184D170F7}"/>
                </a:ext>
              </a:extLst>
            </p:cNvPr>
            <p:cNvSpPr/>
            <p:nvPr/>
          </p:nvSpPr>
          <p:spPr>
            <a:xfrm>
              <a:off x="3278513" y="3154011"/>
              <a:ext cx="447635" cy="447635"/>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Circle: Hollow 4">
              <a:extLst>
                <a:ext uri="{FF2B5EF4-FFF2-40B4-BE49-F238E27FC236}">
                  <a16:creationId xmlns:a16="http://schemas.microsoft.com/office/drawing/2014/main" id="{4D300079-824B-43FF-BBF7-DB3B587A6A4B}"/>
                </a:ext>
              </a:extLst>
            </p:cNvPr>
            <p:cNvSpPr/>
            <p:nvPr/>
          </p:nvSpPr>
          <p:spPr>
            <a:xfrm>
              <a:off x="3278513" y="3748467"/>
              <a:ext cx="447635" cy="447635"/>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5">
              <a:extLst>
                <a:ext uri="{FF2B5EF4-FFF2-40B4-BE49-F238E27FC236}">
                  <a16:creationId xmlns:a16="http://schemas.microsoft.com/office/drawing/2014/main" id="{77117192-71EC-44ED-926E-D2B458F60BCB}"/>
                </a:ext>
              </a:extLst>
            </p:cNvPr>
            <p:cNvSpPr/>
            <p:nvPr/>
          </p:nvSpPr>
          <p:spPr>
            <a:xfrm>
              <a:off x="3278513" y="4937378"/>
              <a:ext cx="447635" cy="447635"/>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6">
              <a:extLst>
                <a:ext uri="{FF2B5EF4-FFF2-40B4-BE49-F238E27FC236}">
                  <a16:creationId xmlns:a16="http://schemas.microsoft.com/office/drawing/2014/main" id="{3487D5FA-74C5-4404-B802-D45453A4A0C2}"/>
                </a:ext>
              </a:extLst>
            </p:cNvPr>
            <p:cNvSpPr/>
            <p:nvPr/>
          </p:nvSpPr>
          <p:spPr>
            <a:xfrm>
              <a:off x="3278513" y="4342923"/>
              <a:ext cx="447635" cy="447635"/>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ircle: Hollow 7">
              <a:extLst>
                <a:ext uri="{FF2B5EF4-FFF2-40B4-BE49-F238E27FC236}">
                  <a16:creationId xmlns:a16="http://schemas.microsoft.com/office/drawing/2014/main" id="{5DD5C544-2ACC-49C2-A201-44A87CEFC517}"/>
                </a:ext>
              </a:extLst>
            </p:cNvPr>
            <p:cNvSpPr/>
            <p:nvPr/>
          </p:nvSpPr>
          <p:spPr>
            <a:xfrm>
              <a:off x="4360616" y="2524484"/>
              <a:ext cx="447635" cy="447635"/>
            </a:xfrm>
            <a:prstGeom prst="don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9" name="Circle: Hollow 8">
              <a:extLst>
                <a:ext uri="{FF2B5EF4-FFF2-40B4-BE49-F238E27FC236}">
                  <a16:creationId xmlns:a16="http://schemas.microsoft.com/office/drawing/2014/main" id="{47CC4459-9ED0-4BD4-9A03-39DC0782EB4A}"/>
                </a:ext>
              </a:extLst>
            </p:cNvPr>
            <p:cNvSpPr/>
            <p:nvPr/>
          </p:nvSpPr>
          <p:spPr>
            <a:xfrm>
              <a:off x="4360616" y="3118940"/>
              <a:ext cx="447635" cy="447635"/>
            </a:xfrm>
            <a:prstGeom prst="don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10" name="Circle: Hollow 9">
              <a:extLst>
                <a:ext uri="{FF2B5EF4-FFF2-40B4-BE49-F238E27FC236}">
                  <a16:creationId xmlns:a16="http://schemas.microsoft.com/office/drawing/2014/main" id="{AED0ADD0-A888-4CDB-B88F-2F265F0A8F36}"/>
                </a:ext>
              </a:extLst>
            </p:cNvPr>
            <p:cNvSpPr/>
            <p:nvPr/>
          </p:nvSpPr>
          <p:spPr>
            <a:xfrm>
              <a:off x="4360616" y="3713396"/>
              <a:ext cx="447635" cy="447635"/>
            </a:xfrm>
            <a:prstGeom prst="don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11" name="Circle: Hollow 10">
              <a:extLst>
                <a:ext uri="{FF2B5EF4-FFF2-40B4-BE49-F238E27FC236}">
                  <a16:creationId xmlns:a16="http://schemas.microsoft.com/office/drawing/2014/main" id="{01242B21-6A33-4568-9F9D-C44B4667719F}"/>
                </a:ext>
              </a:extLst>
            </p:cNvPr>
            <p:cNvSpPr/>
            <p:nvPr/>
          </p:nvSpPr>
          <p:spPr>
            <a:xfrm>
              <a:off x="4360616" y="4902307"/>
              <a:ext cx="447635" cy="447635"/>
            </a:xfrm>
            <a:prstGeom prst="don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12" name="Circle: Hollow 11">
              <a:extLst>
                <a:ext uri="{FF2B5EF4-FFF2-40B4-BE49-F238E27FC236}">
                  <a16:creationId xmlns:a16="http://schemas.microsoft.com/office/drawing/2014/main" id="{44F15235-9F39-4F85-B8D6-1AFBA2C8D7C7}"/>
                </a:ext>
              </a:extLst>
            </p:cNvPr>
            <p:cNvSpPr/>
            <p:nvPr/>
          </p:nvSpPr>
          <p:spPr>
            <a:xfrm>
              <a:off x="4360616" y="4307852"/>
              <a:ext cx="447635" cy="447635"/>
            </a:xfrm>
            <a:prstGeom prst="don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grpSp>
      <p:grpSp>
        <p:nvGrpSpPr>
          <p:cNvPr id="23" name="Group 22">
            <a:extLst>
              <a:ext uri="{FF2B5EF4-FFF2-40B4-BE49-F238E27FC236}">
                <a16:creationId xmlns:a16="http://schemas.microsoft.com/office/drawing/2014/main" id="{D16F0961-EA1B-46B9-ACE1-70D29EDB1F58}"/>
              </a:ext>
            </a:extLst>
          </p:cNvPr>
          <p:cNvGrpSpPr/>
          <p:nvPr/>
        </p:nvGrpSpPr>
        <p:grpSpPr>
          <a:xfrm>
            <a:off x="7233899" y="2489413"/>
            <a:ext cx="1529738" cy="2860529"/>
            <a:chOff x="7233899" y="2489413"/>
            <a:chExt cx="1529738" cy="2860529"/>
          </a:xfrm>
        </p:grpSpPr>
        <p:sp>
          <p:nvSpPr>
            <p:cNvPr id="13" name="Circle: Hollow 12">
              <a:extLst>
                <a:ext uri="{FF2B5EF4-FFF2-40B4-BE49-F238E27FC236}">
                  <a16:creationId xmlns:a16="http://schemas.microsoft.com/office/drawing/2014/main" id="{7E32101C-AAF0-4224-9064-E396733E9C0E}"/>
                </a:ext>
              </a:extLst>
            </p:cNvPr>
            <p:cNvSpPr/>
            <p:nvPr/>
          </p:nvSpPr>
          <p:spPr>
            <a:xfrm>
              <a:off x="7233899" y="2524484"/>
              <a:ext cx="447635" cy="447635"/>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Circle: Hollow 13">
              <a:extLst>
                <a:ext uri="{FF2B5EF4-FFF2-40B4-BE49-F238E27FC236}">
                  <a16:creationId xmlns:a16="http://schemas.microsoft.com/office/drawing/2014/main" id="{4702550F-3D29-410A-B9CF-8E5CB71A3A24}"/>
                </a:ext>
              </a:extLst>
            </p:cNvPr>
            <p:cNvSpPr/>
            <p:nvPr/>
          </p:nvSpPr>
          <p:spPr>
            <a:xfrm>
              <a:off x="7233899" y="3118940"/>
              <a:ext cx="447635" cy="447635"/>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Circle: Hollow 14">
              <a:extLst>
                <a:ext uri="{FF2B5EF4-FFF2-40B4-BE49-F238E27FC236}">
                  <a16:creationId xmlns:a16="http://schemas.microsoft.com/office/drawing/2014/main" id="{DE71698E-2346-49F8-B7D9-FD79E5560CF3}"/>
                </a:ext>
              </a:extLst>
            </p:cNvPr>
            <p:cNvSpPr/>
            <p:nvPr/>
          </p:nvSpPr>
          <p:spPr>
            <a:xfrm>
              <a:off x="7233899" y="3713396"/>
              <a:ext cx="447635" cy="447635"/>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Circle: Hollow 15">
              <a:extLst>
                <a:ext uri="{FF2B5EF4-FFF2-40B4-BE49-F238E27FC236}">
                  <a16:creationId xmlns:a16="http://schemas.microsoft.com/office/drawing/2014/main" id="{41508919-AE62-44FA-8D90-837EF95886B3}"/>
                </a:ext>
              </a:extLst>
            </p:cNvPr>
            <p:cNvSpPr/>
            <p:nvPr/>
          </p:nvSpPr>
          <p:spPr>
            <a:xfrm>
              <a:off x="7233899" y="4902307"/>
              <a:ext cx="447635" cy="447635"/>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Circle: Hollow 16">
              <a:extLst>
                <a:ext uri="{FF2B5EF4-FFF2-40B4-BE49-F238E27FC236}">
                  <a16:creationId xmlns:a16="http://schemas.microsoft.com/office/drawing/2014/main" id="{4A9D223B-4E11-468E-AB7D-5FAE0FFF1466}"/>
                </a:ext>
              </a:extLst>
            </p:cNvPr>
            <p:cNvSpPr/>
            <p:nvPr/>
          </p:nvSpPr>
          <p:spPr>
            <a:xfrm>
              <a:off x="7233899" y="4307852"/>
              <a:ext cx="447635" cy="447635"/>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Circle: Hollow 17">
              <a:extLst>
                <a:ext uri="{FF2B5EF4-FFF2-40B4-BE49-F238E27FC236}">
                  <a16:creationId xmlns:a16="http://schemas.microsoft.com/office/drawing/2014/main" id="{FEB7A00F-98A4-40B2-83A2-F39A76BC1F57}"/>
                </a:ext>
              </a:extLst>
            </p:cNvPr>
            <p:cNvSpPr/>
            <p:nvPr/>
          </p:nvSpPr>
          <p:spPr>
            <a:xfrm>
              <a:off x="8316002" y="2489413"/>
              <a:ext cx="447635" cy="447635"/>
            </a:xfrm>
            <a:prstGeom prst="don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19" name="Circle: Hollow 18">
              <a:extLst>
                <a:ext uri="{FF2B5EF4-FFF2-40B4-BE49-F238E27FC236}">
                  <a16:creationId xmlns:a16="http://schemas.microsoft.com/office/drawing/2014/main" id="{5560EB1C-031C-49C4-9103-D09DB5EABB5F}"/>
                </a:ext>
              </a:extLst>
            </p:cNvPr>
            <p:cNvSpPr/>
            <p:nvPr/>
          </p:nvSpPr>
          <p:spPr>
            <a:xfrm>
              <a:off x="8316002" y="3083869"/>
              <a:ext cx="447635" cy="447635"/>
            </a:xfrm>
            <a:prstGeom prst="don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20" name="Circle: Hollow 19">
              <a:extLst>
                <a:ext uri="{FF2B5EF4-FFF2-40B4-BE49-F238E27FC236}">
                  <a16:creationId xmlns:a16="http://schemas.microsoft.com/office/drawing/2014/main" id="{D4E0DE41-0BA0-4BC0-9B53-58DF237D16F2}"/>
                </a:ext>
              </a:extLst>
            </p:cNvPr>
            <p:cNvSpPr/>
            <p:nvPr/>
          </p:nvSpPr>
          <p:spPr>
            <a:xfrm>
              <a:off x="8316002" y="3678325"/>
              <a:ext cx="447635" cy="447635"/>
            </a:xfrm>
            <a:prstGeom prst="don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21" name="Circle: Hollow 20">
              <a:extLst>
                <a:ext uri="{FF2B5EF4-FFF2-40B4-BE49-F238E27FC236}">
                  <a16:creationId xmlns:a16="http://schemas.microsoft.com/office/drawing/2014/main" id="{40FFC37E-8535-465D-A0E7-E0ACC98EDDCB}"/>
                </a:ext>
              </a:extLst>
            </p:cNvPr>
            <p:cNvSpPr/>
            <p:nvPr/>
          </p:nvSpPr>
          <p:spPr>
            <a:xfrm>
              <a:off x="8316002" y="4867236"/>
              <a:ext cx="447635" cy="447635"/>
            </a:xfrm>
            <a:prstGeom prst="don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22" name="Circle: Hollow 21">
              <a:extLst>
                <a:ext uri="{FF2B5EF4-FFF2-40B4-BE49-F238E27FC236}">
                  <a16:creationId xmlns:a16="http://schemas.microsoft.com/office/drawing/2014/main" id="{41F48E32-AE25-466B-BBBC-A38E4DA42A1C}"/>
                </a:ext>
              </a:extLst>
            </p:cNvPr>
            <p:cNvSpPr/>
            <p:nvPr/>
          </p:nvSpPr>
          <p:spPr>
            <a:xfrm>
              <a:off x="8316002" y="4272781"/>
              <a:ext cx="447635" cy="447635"/>
            </a:xfrm>
            <a:prstGeom prst="don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grpSp>
      <p:cxnSp>
        <p:nvCxnSpPr>
          <p:cNvPr id="26" name="Straight Connector 25">
            <a:extLst>
              <a:ext uri="{FF2B5EF4-FFF2-40B4-BE49-F238E27FC236}">
                <a16:creationId xmlns:a16="http://schemas.microsoft.com/office/drawing/2014/main" id="{60DE328C-A650-46C4-9C61-C89455197CB5}"/>
              </a:ext>
            </a:extLst>
          </p:cNvPr>
          <p:cNvCxnSpPr/>
          <p:nvPr/>
        </p:nvCxnSpPr>
        <p:spPr>
          <a:xfrm>
            <a:off x="2294927" y="2108094"/>
            <a:ext cx="0" cy="4189406"/>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0" name="Freeform: Shape 39">
            <a:extLst>
              <a:ext uri="{FF2B5EF4-FFF2-40B4-BE49-F238E27FC236}">
                <a16:creationId xmlns:a16="http://schemas.microsoft.com/office/drawing/2014/main" id="{EF0DF77B-75E5-49A9-B2E7-32D016EB8B0E}"/>
              </a:ext>
            </a:extLst>
          </p:cNvPr>
          <p:cNvSpPr/>
          <p:nvPr/>
        </p:nvSpPr>
        <p:spPr>
          <a:xfrm>
            <a:off x="7043558" y="2134875"/>
            <a:ext cx="1605305" cy="4116880"/>
          </a:xfrm>
          <a:custGeom>
            <a:avLst/>
            <a:gdLst>
              <a:gd name="connsiteX0" fmla="*/ 374942 w 1605305"/>
              <a:gd name="connsiteY0" fmla="*/ 0 h 4116880"/>
              <a:gd name="connsiteX1" fmla="*/ 428506 w 1605305"/>
              <a:gd name="connsiteY1" fmla="*/ 26782 h 4116880"/>
              <a:gd name="connsiteX2" fmla="*/ 455287 w 1605305"/>
              <a:gd name="connsiteY2" fmla="*/ 42086 h 4116880"/>
              <a:gd name="connsiteX3" fmla="*/ 501198 w 1605305"/>
              <a:gd name="connsiteY3" fmla="*/ 57389 h 4116880"/>
              <a:gd name="connsiteX4" fmla="*/ 543284 w 1605305"/>
              <a:gd name="connsiteY4" fmla="*/ 99475 h 4116880"/>
              <a:gd name="connsiteX5" fmla="*/ 570065 w 1605305"/>
              <a:gd name="connsiteY5" fmla="*/ 126256 h 4116880"/>
              <a:gd name="connsiteX6" fmla="*/ 585369 w 1605305"/>
              <a:gd name="connsiteY6" fmla="*/ 156864 h 4116880"/>
              <a:gd name="connsiteX7" fmla="*/ 615977 w 1605305"/>
              <a:gd name="connsiteY7" fmla="*/ 183646 h 4116880"/>
              <a:gd name="connsiteX8" fmla="*/ 673366 w 1605305"/>
              <a:gd name="connsiteY8" fmla="*/ 229557 h 4116880"/>
              <a:gd name="connsiteX9" fmla="*/ 684844 w 1605305"/>
              <a:gd name="connsiteY9" fmla="*/ 256338 h 4116880"/>
              <a:gd name="connsiteX10" fmla="*/ 715451 w 1605305"/>
              <a:gd name="connsiteY10" fmla="*/ 271642 h 4116880"/>
              <a:gd name="connsiteX11" fmla="*/ 742233 w 1605305"/>
              <a:gd name="connsiteY11" fmla="*/ 298424 h 4116880"/>
              <a:gd name="connsiteX12" fmla="*/ 757537 w 1605305"/>
              <a:gd name="connsiteY12" fmla="*/ 313728 h 4116880"/>
              <a:gd name="connsiteX13" fmla="*/ 772840 w 1605305"/>
              <a:gd name="connsiteY13" fmla="*/ 329031 h 4116880"/>
              <a:gd name="connsiteX14" fmla="*/ 799622 w 1605305"/>
              <a:gd name="connsiteY14" fmla="*/ 371117 h 4116880"/>
              <a:gd name="connsiteX15" fmla="*/ 830229 w 1605305"/>
              <a:gd name="connsiteY15" fmla="*/ 401724 h 4116880"/>
              <a:gd name="connsiteX16" fmla="*/ 857011 w 1605305"/>
              <a:gd name="connsiteY16" fmla="*/ 443810 h 4116880"/>
              <a:gd name="connsiteX17" fmla="*/ 887619 w 1605305"/>
              <a:gd name="connsiteY17" fmla="*/ 470591 h 4116880"/>
              <a:gd name="connsiteX18" fmla="*/ 914400 w 1605305"/>
              <a:gd name="connsiteY18" fmla="*/ 516502 h 4116880"/>
              <a:gd name="connsiteX19" fmla="*/ 929704 w 1605305"/>
              <a:gd name="connsiteY19" fmla="*/ 527980 h 4116880"/>
              <a:gd name="connsiteX20" fmla="*/ 945008 w 1605305"/>
              <a:gd name="connsiteY20" fmla="*/ 558588 h 4116880"/>
              <a:gd name="connsiteX21" fmla="*/ 971789 w 1605305"/>
              <a:gd name="connsiteY21" fmla="*/ 585369 h 4116880"/>
              <a:gd name="connsiteX22" fmla="*/ 987093 w 1605305"/>
              <a:gd name="connsiteY22" fmla="*/ 600673 h 4116880"/>
              <a:gd name="connsiteX23" fmla="*/ 1002397 w 1605305"/>
              <a:gd name="connsiteY23" fmla="*/ 615977 h 4116880"/>
              <a:gd name="connsiteX24" fmla="*/ 1029178 w 1605305"/>
              <a:gd name="connsiteY24" fmla="*/ 631281 h 4116880"/>
              <a:gd name="connsiteX25" fmla="*/ 1044482 w 1605305"/>
              <a:gd name="connsiteY25" fmla="*/ 642758 h 4116880"/>
              <a:gd name="connsiteX26" fmla="*/ 1075090 w 1605305"/>
              <a:gd name="connsiteY26" fmla="*/ 658062 h 4116880"/>
              <a:gd name="connsiteX27" fmla="*/ 1132479 w 1605305"/>
              <a:gd name="connsiteY27" fmla="*/ 688670 h 4116880"/>
              <a:gd name="connsiteX28" fmla="*/ 1159260 w 1605305"/>
              <a:gd name="connsiteY28" fmla="*/ 715451 h 4116880"/>
              <a:gd name="connsiteX29" fmla="*/ 1216650 w 1605305"/>
              <a:gd name="connsiteY29" fmla="*/ 746059 h 4116880"/>
              <a:gd name="connsiteX30" fmla="*/ 1258735 w 1605305"/>
              <a:gd name="connsiteY30" fmla="*/ 772840 h 4116880"/>
              <a:gd name="connsiteX31" fmla="*/ 1304646 w 1605305"/>
              <a:gd name="connsiteY31" fmla="*/ 788144 h 4116880"/>
              <a:gd name="connsiteX32" fmla="*/ 1362035 w 1605305"/>
              <a:gd name="connsiteY32" fmla="*/ 814926 h 4116880"/>
              <a:gd name="connsiteX33" fmla="*/ 1446206 w 1605305"/>
              <a:gd name="connsiteY33" fmla="*/ 845533 h 4116880"/>
              <a:gd name="connsiteX34" fmla="*/ 1488291 w 1605305"/>
              <a:gd name="connsiteY34" fmla="*/ 860837 h 4116880"/>
              <a:gd name="connsiteX35" fmla="*/ 1545680 w 1605305"/>
              <a:gd name="connsiteY35" fmla="*/ 872315 h 4116880"/>
              <a:gd name="connsiteX36" fmla="*/ 1576288 w 1605305"/>
              <a:gd name="connsiteY36" fmla="*/ 887619 h 4116880"/>
              <a:gd name="connsiteX37" fmla="*/ 1603070 w 1605305"/>
              <a:gd name="connsiteY37" fmla="*/ 902922 h 4116880"/>
              <a:gd name="connsiteX38" fmla="*/ 1362035 w 1605305"/>
              <a:gd name="connsiteY38" fmla="*/ 891445 h 4116880"/>
              <a:gd name="connsiteX39" fmla="*/ 1205172 w 1605305"/>
              <a:gd name="connsiteY39" fmla="*/ 902922 h 4116880"/>
              <a:gd name="connsiteX40" fmla="*/ 1189868 w 1605305"/>
              <a:gd name="connsiteY40" fmla="*/ 918226 h 4116880"/>
              <a:gd name="connsiteX41" fmla="*/ 1163086 w 1605305"/>
              <a:gd name="connsiteY41" fmla="*/ 929704 h 4116880"/>
              <a:gd name="connsiteX42" fmla="*/ 1132479 w 1605305"/>
              <a:gd name="connsiteY42" fmla="*/ 945008 h 4116880"/>
              <a:gd name="connsiteX43" fmla="*/ 1105697 w 1605305"/>
              <a:gd name="connsiteY43" fmla="*/ 975615 h 4116880"/>
              <a:gd name="connsiteX44" fmla="*/ 1075090 w 1605305"/>
              <a:gd name="connsiteY44" fmla="*/ 1002397 h 4116880"/>
              <a:gd name="connsiteX45" fmla="*/ 1048308 w 1605305"/>
              <a:gd name="connsiteY45" fmla="*/ 1101871 h 4116880"/>
              <a:gd name="connsiteX46" fmla="*/ 1059786 w 1605305"/>
              <a:gd name="connsiteY46" fmla="*/ 1216650 h 4116880"/>
              <a:gd name="connsiteX47" fmla="*/ 1086568 w 1605305"/>
              <a:gd name="connsiteY47" fmla="*/ 1262561 h 4116880"/>
              <a:gd name="connsiteX48" fmla="*/ 1101871 w 1605305"/>
              <a:gd name="connsiteY48" fmla="*/ 1274039 h 4116880"/>
              <a:gd name="connsiteX49" fmla="*/ 1132479 w 1605305"/>
              <a:gd name="connsiteY49" fmla="*/ 1304646 h 4116880"/>
              <a:gd name="connsiteX50" fmla="*/ 1174564 w 1605305"/>
              <a:gd name="connsiteY50" fmla="*/ 1331428 h 4116880"/>
              <a:gd name="connsiteX51" fmla="*/ 1189868 w 1605305"/>
              <a:gd name="connsiteY51" fmla="*/ 1346732 h 4116880"/>
              <a:gd name="connsiteX52" fmla="*/ 1231953 w 1605305"/>
              <a:gd name="connsiteY52" fmla="*/ 1362035 h 4116880"/>
              <a:gd name="connsiteX53" fmla="*/ 1289342 w 1605305"/>
              <a:gd name="connsiteY53" fmla="*/ 1388817 h 4116880"/>
              <a:gd name="connsiteX54" fmla="*/ 1316124 w 1605305"/>
              <a:gd name="connsiteY54" fmla="*/ 1404121 h 4116880"/>
              <a:gd name="connsiteX55" fmla="*/ 1362035 w 1605305"/>
              <a:gd name="connsiteY55" fmla="*/ 1419425 h 4116880"/>
              <a:gd name="connsiteX56" fmla="*/ 1247257 w 1605305"/>
              <a:gd name="connsiteY56" fmla="*/ 1434728 h 4116880"/>
              <a:gd name="connsiteX57" fmla="*/ 1205172 w 1605305"/>
              <a:gd name="connsiteY57" fmla="*/ 1446206 h 4116880"/>
              <a:gd name="connsiteX58" fmla="*/ 1189868 w 1605305"/>
              <a:gd name="connsiteY58" fmla="*/ 1476814 h 4116880"/>
              <a:gd name="connsiteX59" fmla="*/ 1178390 w 1605305"/>
              <a:gd name="connsiteY59" fmla="*/ 1492117 h 4116880"/>
              <a:gd name="connsiteX60" fmla="*/ 1163086 w 1605305"/>
              <a:gd name="connsiteY60" fmla="*/ 1534203 h 4116880"/>
              <a:gd name="connsiteX61" fmla="*/ 1147783 w 1605305"/>
              <a:gd name="connsiteY61" fmla="*/ 1549507 h 4116880"/>
              <a:gd name="connsiteX62" fmla="*/ 1159260 w 1605305"/>
              <a:gd name="connsiteY62" fmla="*/ 1905319 h 4116880"/>
              <a:gd name="connsiteX63" fmla="*/ 1189868 w 1605305"/>
              <a:gd name="connsiteY63" fmla="*/ 1951230 h 4116880"/>
              <a:gd name="connsiteX64" fmla="*/ 1216650 w 1605305"/>
              <a:gd name="connsiteY64" fmla="*/ 1962708 h 4116880"/>
              <a:gd name="connsiteX65" fmla="*/ 1247257 w 1605305"/>
              <a:gd name="connsiteY65" fmla="*/ 1993316 h 4116880"/>
              <a:gd name="connsiteX66" fmla="*/ 1258735 w 1605305"/>
              <a:gd name="connsiteY66" fmla="*/ 2008620 h 4116880"/>
              <a:gd name="connsiteX67" fmla="*/ 1331428 w 1605305"/>
              <a:gd name="connsiteY67" fmla="*/ 2035401 h 4116880"/>
              <a:gd name="connsiteX68" fmla="*/ 1362035 w 1605305"/>
              <a:gd name="connsiteY68" fmla="*/ 2050705 h 4116880"/>
              <a:gd name="connsiteX69" fmla="*/ 1404121 w 1605305"/>
              <a:gd name="connsiteY69" fmla="*/ 2066009 h 4116880"/>
              <a:gd name="connsiteX70" fmla="*/ 1430902 w 1605305"/>
              <a:gd name="connsiteY70" fmla="*/ 2077487 h 4116880"/>
              <a:gd name="connsiteX71" fmla="*/ 1247257 w 1605305"/>
              <a:gd name="connsiteY71" fmla="*/ 2092790 h 4116880"/>
              <a:gd name="connsiteX72" fmla="*/ 1235779 w 1605305"/>
              <a:gd name="connsiteY72" fmla="*/ 2108094 h 4116880"/>
              <a:gd name="connsiteX73" fmla="*/ 1205172 w 1605305"/>
              <a:gd name="connsiteY73" fmla="*/ 2123398 h 4116880"/>
              <a:gd name="connsiteX74" fmla="*/ 1189868 w 1605305"/>
              <a:gd name="connsiteY74" fmla="*/ 2134876 h 4116880"/>
              <a:gd name="connsiteX75" fmla="*/ 1174564 w 1605305"/>
              <a:gd name="connsiteY75" fmla="*/ 2509818 h 4116880"/>
              <a:gd name="connsiteX76" fmla="*/ 1201346 w 1605305"/>
              <a:gd name="connsiteY76" fmla="*/ 2536599 h 4116880"/>
              <a:gd name="connsiteX77" fmla="*/ 1231953 w 1605305"/>
              <a:gd name="connsiteY77" fmla="*/ 2567207 h 4116880"/>
              <a:gd name="connsiteX78" fmla="*/ 1274039 w 1605305"/>
              <a:gd name="connsiteY78" fmla="*/ 2609292 h 4116880"/>
              <a:gd name="connsiteX79" fmla="*/ 1289342 w 1605305"/>
              <a:gd name="connsiteY79" fmla="*/ 2624596 h 4116880"/>
              <a:gd name="connsiteX80" fmla="*/ 1331428 w 1605305"/>
              <a:gd name="connsiteY80" fmla="*/ 2651378 h 4116880"/>
              <a:gd name="connsiteX81" fmla="*/ 1362035 w 1605305"/>
              <a:gd name="connsiteY81" fmla="*/ 2681985 h 4116880"/>
              <a:gd name="connsiteX82" fmla="*/ 1430902 w 1605305"/>
              <a:gd name="connsiteY82" fmla="*/ 2708767 h 4116880"/>
              <a:gd name="connsiteX83" fmla="*/ 1189868 w 1605305"/>
              <a:gd name="connsiteY83" fmla="*/ 2724071 h 4116880"/>
              <a:gd name="connsiteX84" fmla="*/ 1163086 w 1605305"/>
              <a:gd name="connsiteY84" fmla="*/ 2739374 h 4116880"/>
              <a:gd name="connsiteX85" fmla="*/ 1132479 w 1605305"/>
              <a:gd name="connsiteY85" fmla="*/ 2754678 h 4116880"/>
              <a:gd name="connsiteX86" fmla="*/ 1090393 w 1605305"/>
              <a:gd name="connsiteY86" fmla="*/ 2781460 h 4116880"/>
              <a:gd name="connsiteX87" fmla="*/ 1033004 w 1605305"/>
              <a:gd name="connsiteY87" fmla="*/ 2854153 h 4116880"/>
              <a:gd name="connsiteX88" fmla="*/ 1006223 w 1605305"/>
              <a:gd name="connsiteY88" fmla="*/ 2880934 h 4116880"/>
              <a:gd name="connsiteX89" fmla="*/ 975615 w 1605305"/>
              <a:gd name="connsiteY89" fmla="*/ 2968931 h 4116880"/>
              <a:gd name="connsiteX90" fmla="*/ 933530 w 1605305"/>
              <a:gd name="connsiteY90" fmla="*/ 3271180 h 4116880"/>
              <a:gd name="connsiteX91" fmla="*/ 918226 w 1605305"/>
              <a:gd name="connsiteY91" fmla="*/ 3297962 h 4116880"/>
              <a:gd name="connsiteX92" fmla="*/ 876141 w 1605305"/>
              <a:gd name="connsiteY92" fmla="*/ 3412740 h 4116880"/>
              <a:gd name="connsiteX93" fmla="*/ 860837 w 1605305"/>
              <a:gd name="connsiteY93" fmla="*/ 3428044 h 4116880"/>
              <a:gd name="connsiteX94" fmla="*/ 788144 w 1605305"/>
              <a:gd name="connsiteY94" fmla="*/ 3569604 h 4116880"/>
              <a:gd name="connsiteX95" fmla="*/ 761363 w 1605305"/>
              <a:gd name="connsiteY95" fmla="*/ 3615515 h 4116880"/>
              <a:gd name="connsiteX96" fmla="*/ 730755 w 1605305"/>
              <a:gd name="connsiteY96" fmla="*/ 3672904 h 4116880"/>
              <a:gd name="connsiteX97" fmla="*/ 719277 w 1605305"/>
              <a:gd name="connsiteY97" fmla="*/ 3699686 h 4116880"/>
              <a:gd name="connsiteX98" fmla="*/ 703973 w 1605305"/>
              <a:gd name="connsiteY98" fmla="*/ 3714989 h 4116880"/>
              <a:gd name="connsiteX99" fmla="*/ 688670 w 1605305"/>
              <a:gd name="connsiteY99" fmla="*/ 3741771 h 4116880"/>
              <a:gd name="connsiteX100" fmla="*/ 661888 w 1605305"/>
              <a:gd name="connsiteY100" fmla="*/ 3787682 h 4116880"/>
              <a:gd name="connsiteX101" fmla="*/ 631280 w 1605305"/>
              <a:gd name="connsiteY101" fmla="*/ 3814464 h 4116880"/>
              <a:gd name="connsiteX102" fmla="*/ 615977 w 1605305"/>
              <a:gd name="connsiteY102" fmla="*/ 3829768 h 4116880"/>
              <a:gd name="connsiteX103" fmla="*/ 558588 w 1605305"/>
              <a:gd name="connsiteY103" fmla="*/ 3871853 h 4116880"/>
              <a:gd name="connsiteX104" fmla="*/ 547110 w 1605305"/>
              <a:gd name="connsiteY104" fmla="*/ 3887157 h 4116880"/>
              <a:gd name="connsiteX105" fmla="*/ 501198 w 1605305"/>
              <a:gd name="connsiteY105" fmla="*/ 3913938 h 4116880"/>
              <a:gd name="connsiteX106" fmla="*/ 474417 w 1605305"/>
              <a:gd name="connsiteY106" fmla="*/ 3944546 h 4116880"/>
              <a:gd name="connsiteX107" fmla="*/ 443809 w 1605305"/>
              <a:gd name="connsiteY107" fmla="*/ 3959850 h 4116880"/>
              <a:gd name="connsiteX108" fmla="*/ 374942 w 1605305"/>
              <a:gd name="connsiteY108" fmla="*/ 3986631 h 4116880"/>
              <a:gd name="connsiteX109" fmla="*/ 344335 w 1605305"/>
              <a:gd name="connsiteY109" fmla="*/ 4001935 h 4116880"/>
              <a:gd name="connsiteX110" fmla="*/ 302250 w 1605305"/>
              <a:gd name="connsiteY110" fmla="*/ 4017239 h 4116880"/>
              <a:gd name="connsiteX111" fmla="*/ 187471 w 1605305"/>
              <a:gd name="connsiteY111" fmla="*/ 4059324 h 4116880"/>
              <a:gd name="connsiteX112" fmla="*/ 172168 w 1605305"/>
              <a:gd name="connsiteY112" fmla="*/ 4074628 h 4116880"/>
              <a:gd name="connsiteX113" fmla="*/ 145386 w 1605305"/>
              <a:gd name="connsiteY113" fmla="*/ 4086106 h 4116880"/>
              <a:gd name="connsiteX114" fmla="*/ 114778 w 1605305"/>
              <a:gd name="connsiteY114" fmla="*/ 4101410 h 4116880"/>
              <a:gd name="connsiteX115" fmla="*/ 0 w 1605305"/>
              <a:gd name="connsiteY115" fmla="*/ 4116713 h 4116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605305" h="4116880">
                <a:moveTo>
                  <a:pt x="374942" y="0"/>
                </a:moveTo>
                <a:cubicBezTo>
                  <a:pt x="392797" y="8927"/>
                  <a:pt x="411174" y="16878"/>
                  <a:pt x="428506" y="26782"/>
                </a:cubicBezTo>
                <a:cubicBezTo>
                  <a:pt x="437433" y="31883"/>
                  <a:pt x="445811" y="38096"/>
                  <a:pt x="455287" y="42086"/>
                </a:cubicBezTo>
                <a:cubicBezTo>
                  <a:pt x="470154" y="48346"/>
                  <a:pt x="485894" y="52288"/>
                  <a:pt x="501198" y="57389"/>
                </a:cubicBezTo>
                <a:lnTo>
                  <a:pt x="543284" y="99475"/>
                </a:lnTo>
                <a:cubicBezTo>
                  <a:pt x="552211" y="108402"/>
                  <a:pt x="564419" y="114964"/>
                  <a:pt x="570065" y="126256"/>
                </a:cubicBezTo>
                <a:cubicBezTo>
                  <a:pt x="575166" y="136459"/>
                  <a:pt x="578243" y="147957"/>
                  <a:pt x="585369" y="156864"/>
                </a:cubicBezTo>
                <a:cubicBezTo>
                  <a:pt x="593838" y="167450"/>
                  <a:pt x="605336" y="175246"/>
                  <a:pt x="615977" y="183646"/>
                </a:cubicBezTo>
                <a:cubicBezTo>
                  <a:pt x="678055" y="232655"/>
                  <a:pt x="639908" y="196099"/>
                  <a:pt x="673366" y="229557"/>
                </a:cubicBezTo>
                <a:cubicBezTo>
                  <a:pt x="677192" y="238484"/>
                  <a:pt x="677976" y="249470"/>
                  <a:pt x="684844" y="256338"/>
                </a:cubicBezTo>
                <a:cubicBezTo>
                  <a:pt x="692910" y="264404"/>
                  <a:pt x="706253" y="264896"/>
                  <a:pt x="715451" y="271642"/>
                </a:cubicBezTo>
                <a:cubicBezTo>
                  <a:pt x="725632" y="279108"/>
                  <a:pt x="733306" y="289497"/>
                  <a:pt x="742233" y="298424"/>
                </a:cubicBezTo>
                <a:lnTo>
                  <a:pt x="757537" y="313728"/>
                </a:lnTo>
                <a:cubicBezTo>
                  <a:pt x="762638" y="318829"/>
                  <a:pt x="769261" y="322768"/>
                  <a:pt x="772840" y="329031"/>
                </a:cubicBezTo>
                <a:cubicBezTo>
                  <a:pt x="780841" y="343034"/>
                  <a:pt x="788466" y="358946"/>
                  <a:pt x="799622" y="371117"/>
                </a:cubicBezTo>
                <a:cubicBezTo>
                  <a:pt x="809372" y="381753"/>
                  <a:pt x="823071" y="389197"/>
                  <a:pt x="830229" y="401724"/>
                </a:cubicBezTo>
                <a:cubicBezTo>
                  <a:pt x="839768" y="418418"/>
                  <a:pt x="844901" y="429970"/>
                  <a:pt x="857011" y="443810"/>
                </a:cubicBezTo>
                <a:cubicBezTo>
                  <a:pt x="869617" y="458217"/>
                  <a:pt x="872914" y="459562"/>
                  <a:pt x="887619" y="470591"/>
                </a:cubicBezTo>
                <a:cubicBezTo>
                  <a:pt x="894851" y="485056"/>
                  <a:pt x="902183" y="504286"/>
                  <a:pt x="914400" y="516502"/>
                </a:cubicBezTo>
                <a:cubicBezTo>
                  <a:pt x="918909" y="521011"/>
                  <a:pt x="924603" y="524154"/>
                  <a:pt x="929704" y="527980"/>
                </a:cubicBezTo>
                <a:cubicBezTo>
                  <a:pt x="934805" y="538183"/>
                  <a:pt x="938262" y="549389"/>
                  <a:pt x="945008" y="558588"/>
                </a:cubicBezTo>
                <a:cubicBezTo>
                  <a:pt x="952474" y="568769"/>
                  <a:pt x="962862" y="576442"/>
                  <a:pt x="971789" y="585369"/>
                </a:cubicBezTo>
                <a:lnTo>
                  <a:pt x="987093" y="600673"/>
                </a:lnTo>
                <a:cubicBezTo>
                  <a:pt x="992194" y="605774"/>
                  <a:pt x="996133" y="612398"/>
                  <a:pt x="1002397" y="615977"/>
                </a:cubicBezTo>
                <a:cubicBezTo>
                  <a:pt x="1011324" y="621078"/>
                  <a:pt x="1020504" y="625761"/>
                  <a:pt x="1029178" y="631281"/>
                </a:cubicBezTo>
                <a:cubicBezTo>
                  <a:pt x="1034558" y="634704"/>
                  <a:pt x="1038974" y="639545"/>
                  <a:pt x="1044482" y="642758"/>
                </a:cubicBezTo>
                <a:cubicBezTo>
                  <a:pt x="1054335" y="648505"/>
                  <a:pt x="1064887" y="652961"/>
                  <a:pt x="1075090" y="658062"/>
                </a:cubicBezTo>
                <a:cubicBezTo>
                  <a:pt x="1102934" y="695187"/>
                  <a:pt x="1063602" y="648793"/>
                  <a:pt x="1132479" y="688670"/>
                </a:cubicBezTo>
                <a:cubicBezTo>
                  <a:pt x="1143405" y="694995"/>
                  <a:pt x="1147968" y="709805"/>
                  <a:pt x="1159260" y="715451"/>
                </a:cubicBezTo>
                <a:cubicBezTo>
                  <a:pt x="1179682" y="725662"/>
                  <a:pt x="1197436" y="733831"/>
                  <a:pt x="1216650" y="746059"/>
                </a:cubicBezTo>
                <a:cubicBezTo>
                  <a:pt x="1238605" y="760031"/>
                  <a:pt x="1228954" y="760301"/>
                  <a:pt x="1258735" y="772840"/>
                </a:cubicBezTo>
                <a:cubicBezTo>
                  <a:pt x="1273602" y="779100"/>
                  <a:pt x="1289342" y="783043"/>
                  <a:pt x="1304646" y="788144"/>
                </a:cubicBezTo>
                <a:cubicBezTo>
                  <a:pt x="1327122" y="818112"/>
                  <a:pt x="1306145" y="796844"/>
                  <a:pt x="1362035" y="814926"/>
                </a:cubicBezTo>
                <a:cubicBezTo>
                  <a:pt x="1390440" y="824116"/>
                  <a:pt x="1418149" y="835331"/>
                  <a:pt x="1446206" y="845533"/>
                </a:cubicBezTo>
                <a:cubicBezTo>
                  <a:pt x="1460234" y="850634"/>
                  <a:pt x="1473654" y="857910"/>
                  <a:pt x="1488291" y="860837"/>
                </a:cubicBezTo>
                <a:lnTo>
                  <a:pt x="1545680" y="872315"/>
                </a:lnTo>
                <a:cubicBezTo>
                  <a:pt x="1555883" y="877416"/>
                  <a:pt x="1566223" y="882251"/>
                  <a:pt x="1576288" y="887619"/>
                </a:cubicBezTo>
                <a:cubicBezTo>
                  <a:pt x="1585360" y="892457"/>
                  <a:pt x="1613350" y="902738"/>
                  <a:pt x="1603070" y="902922"/>
                </a:cubicBezTo>
                <a:cubicBezTo>
                  <a:pt x="1522647" y="904358"/>
                  <a:pt x="1442380" y="895271"/>
                  <a:pt x="1362035" y="891445"/>
                </a:cubicBezTo>
                <a:cubicBezTo>
                  <a:pt x="1309747" y="895271"/>
                  <a:pt x="1256976" y="894864"/>
                  <a:pt x="1205172" y="902922"/>
                </a:cubicBezTo>
                <a:cubicBezTo>
                  <a:pt x="1198043" y="904031"/>
                  <a:pt x="1195954" y="914353"/>
                  <a:pt x="1189868" y="918226"/>
                </a:cubicBezTo>
                <a:cubicBezTo>
                  <a:pt x="1181674" y="923440"/>
                  <a:pt x="1171887" y="925597"/>
                  <a:pt x="1163086" y="929704"/>
                </a:cubicBezTo>
                <a:cubicBezTo>
                  <a:pt x="1152750" y="934528"/>
                  <a:pt x="1142681" y="939907"/>
                  <a:pt x="1132479" y="945008"/>
                </a:cubicBezTo>
                <a:cubicBezTo>
                  <a:pt x="1121447" y="959717"/>
                  <a:pt x="1120108" y="963006"/>
                  <a:pt x="1105697" y="975615"/>
                </a:cubicBezTo>
                <a:cubicBezTo>
                  <a:pt x="1063568" y="1012476"/>
                  <a:pt x="1118720" y="958764"/>
                  <a:pt x="1075090" y="1002397"/>
                </a:cubicBezTo>
                <a:cubicBezTo>
                  <a:pt x="1063210" y="1034075"/>
                  <a:pt x="1049023" y="1067574"/>
                  <a:pt x="1048308" y="1101871"/>
                </a:cubicBezTo>
                <a:cubicBezTo>
                  <a:pt x="1047507" y="1140313"/>
                  <a:pt x="1052820" y="1178836"/>
                  <a:pt x="1059786" y="1216650"/>
                </a:cubicBezTo>
                <a:cubicBezTo>
                  <a:pt x="1061419" y="1225513"/>
                  <a:pt x="1077483" y="1253476"/>
                  <a:pt x="1086568" y="1262561"/>
                </a:cubicBezTo>
                <a:cubicBezTo>
                  <a:pt x="1091077" y="1267070"/>
                  <a:pt x="1097171" y="1269730"/>
                  <a:pt x="1101871" y="1274039"/>
                </a:cubicBezTo>
                <a:cubicBezTo>
                  <a:pt x="1112507" y="1283789"/>
                  <a:pt x="1119952" y="1297487"/>
                  <a:pt x="1132479" y="1304646"/>
                </a:cubicBezTo>
                <a:cubicBezTo>
                  <a:pt x="1149173" y="1314186"/>
                  <a:pt x="1160724" y="1319318"/>
                  <a:pt x="1174564" y="1331428"/>
                </a:cubicBezTo>
                <a:cubicBezTo>
                  <a:pt x="1179993" y="1336179"/>
                  <a:pt x="1183502" y="1343337"/>
                  <a:pt x="1189868" y="1346732"/>
                </a:cubicBezTo>
                <a:cubicBezTo>
                  <a:pt x="1203039" y="1353756"/>
                  <a:pt x="1217925" y="1356934"/>
                  <a:pt x="1231953" y="1362035"/>
                </a:cubicBezTo>
                <a:cubicBezTo>
                  <a:pt x="1262164" y="1392246"/>
                  <a:pt x="1230974" y="1366118"/>
                  <a:pt x="1289342" y="1388817"/>
                </a:cubicBezTo>
                <a:cubicBezTo>
                  <a:pt x="1298925" y="1392544"/>
                  <a:pt x="1306648" y="1400131"/>
                  <a:pt x="1316124" y="1404121"/>
                </a:cubicBezTo>
                <a:cubicBezTo>
                  <a:pt x="1330991" y="1410381"/>
                  <a:pt x="1346731" y="1414324"/>
                  <a:pt x="1362035" y="1419425"/>
                </a:cubicBezTo>
                <a:cubicBezTo>
                  <a:pt x="1323776" y="1424526"/>
                  <a:pt x="1285304" y="1428232"/>
                  <a:pt x="1247257" y="1434728"/>
                </a:cubicBezTo>
                <a:cubicBezTo>
                  <a:pt x="1232924" y="1437175"/>
                  <a:pt x="1216898" y="1437607"/>
                  <a:pt x="1205172" y="1446206"/>
                </a:cubicBezTo>
                <a:cubicBezTo>
                  <a:pt x="1195973" y="1452952"/>
                  <a:pt x="1195616" y="1466961"/>
                  <a:pt x="1189868" y="1476814"/>
                </a:cubicBezTo>
                <a:cubicBezTo>
                  <a:pt x="1186655" y="1482322"/>
                  <a:pt x="1182216" y="1487016"/>
                  <a:pt x="1178390" y="1492117"/>
                </a:cubicBezTo>
                <a:cubicBezTo>
                  <a:pt x="1173289" y="1506146"/>
                  <a:pt x="1170110" y="1521032"/>
                  <a:pt x="1163086" y="1534203"/>
                </a:cubicBezTo>
                <a:cubicBezTo>
                  <a:pt x="1159691" y="1540568"/>
                  <a:pt x="1147857" y="1542293"/>
                  <a:pt x="1147783" y="1549507"/>
                </a:cubicBezTo>
                <a:cubicBezTo>
                  <a:pt x="1146560" y="1668166"/>
                  <a:pt x="1151056" y="1786937"/>
                  <a:pt x="1159260" y="1905319"/>
                </a:cubicBezTo>
                <a:cubicBezTo>
                  <a:pt x="1160118" y="1917698"/>
                  <a:pt x="1177674" y="1943471"/>
                  <a:pt x="1189868" y="1951230"/>
                </a:cubicBezTo>
                <a:cubicBezTo>
                  <a:pt x="1198062" y="1956444"/>
                  <a:pt x="1207723" y="1958882"/>
                  <a:pt x="1216650" y="1962708"/>
                </a:cubicBezTo>
                <a:cubicBezTo>
                  <a:pt x="1226852" y="1972911"/>
                  <a:pt x="1238600" y="1981773"/>
                  <a:pt x="1247257" y="1993316"/>
                </a:cubicBezTo>
                <a:cubicBezTo>
                  <a:pt x="1251083" y="1998417"/>
                  <a:pt x="1253032" y="2005768"/>
                  <a:pt x="1258735" y="2008620"/>
                </a:cubicBezTo>
                <a:cubicBezTo>
                  <a:pt x="1281832" y="2020168"/>
                  <a:pt x="1308331" y="2023852"/>
                  <a:pt x="1331428" y="2035401"/>
                </a:cubicBezTo>
                <a:cubicBezTo>
                  <a:pt x="1341630" y="2040502"/>
                  <a:pt x="1351522" y="2046279"/>
                  <a:pt x="1362035" y="2050705"/>
                </a:cubicBezTo>
                <a:cubicBezTo>
                  <a:pt x="1375793" y="2056498"/>
                  <a:pt x="1390209" y="2060599"/>
                  <a:pt x="1404121" y="2066009"/>
                </a:cubicBezTo>
                <a:cubicBezTo>
                  <a:pt x="1413173" y="2069529"/>
                  <a:pt x="1421975" y="2073661"/>
                  <a:pt x="1430902" y="2077487"/>
                </a:cubicBezTo>
                <a:cubicBezTo>
                  <a:pt x="1369687" y="2082588"/>
                  <a:pt x="1307942" y="2083271"/>
                  <a:pt x="1247257" y="2092790"/>
                </a:cubicBezTo>
                <a:cubicBezTo>
                  <a:pt x="1240957" y="2093778"/>
                  <a:pt x="1240936" y="2104343"/>
                  <a:pt x="1235779" y="2108094"/>
                </a:cubicBezTo>
                <a:cubicBezTo>
                  <a:pt x="1226554" y="2114803"/>
                  <a:pt x="1215025" y="2117650"/>
                  <a:pt x="1205172" y="2123398"/>
                </a:cubicBezTo>
                <a:cubicBezTo>
                  <a:pt x="1199664" y="2126611"/>
                  <a:pt x="1194969" y="2131050"/>
                  <a:pt x="1189868" y="2134876"/>
                </a:cubicBezTo>
                <a:cubicBezTo>
                  <a:pt x="1133232" y="2288601"/>
                  <a:pt x="1142580" y="2234762"/>
                  <a:pt x="1174564" y="2509818"/>
                </a:cubicBezTo>
                <a:cubicBezTo>
                  <a:pt x="1176022" y="2522358"/>
                  <a:pt x="1192419" y="2527672"/>
                  <a:pt x="1201346" y="2536599"/>
                </a:cubicBezTo>
                <a:lnTo>
                  <a:pt x="1231953" y="2567207"/>
                </a:lnTo>
                <a:lnTo>
                  <a:pt x="1274039" y="2609292"/>
                </a:lnTo>
                <a:cubicBezTo>
                  <a:pt x="1279140" y="2614393"/>
                  <a:pt x="1283078" y="2621017"/>
                  <a:pt x="1289342" y="2624596"/>
                </a:cubicBezTo>
                <a:cubicBezTo>
                  <a:pt x="1303345" y="2632597"/>
                  <a:pt x="1319257" y="2640222"/>
                  <a:pt x="1331428" y="2651378"/>
                </a:cubicBezTo>
                <a:cubicBezTo>
                  <a:pt x="1342064" y="2661128"/>
                  <a:pt x="1348475" y="2677054"/>
                  <a:pt x="1362035" y="2681985"/>
                </a:cubicBezTo>
                <a:cubicBezTo>
                  <a:pt x="1413249" y="2700608"/>
                  <a:pt x="1390401" y="2691409"/>
                  <a:pt x="1430902" y="2708767"/>
                </a:cubicBezTo>
                <a:cubicBezTo>
                  <a:pt x="1350557" y="2713868"/>
                  <a:pt x="1269854" y="2714930"/>
                  <a:pt x="1189868" y="2724071"/>
                </a:cubicBezTo>
                <a:cubicBezTo>
                  <a:pt x="1179653" y="2725238"/>
                  <a:pt x="1172158" y="2734536"/>
                  <a:pt x="1163086" y="2739374"/>
                </a:cubicBezTo>
                <a:cubicBezTo>
                  <a:pt x="1153021" y="2744742"/>
                  <a:pt x="1142102" y="2748554"/>
                  <a:pt x="1132479" y="2754678"/>
                </a:cubicBezTo>
                <a:cubicBezTo>
                  <a:pt x="1060826" y="2800276"/>
                  <a:pt x="1235696" y="2708808"/>
                  <a:pt x="1090393" y="2781460"/>
                </a:cubicBezTo>
                <a:cubicBezTo>
                  <a:pt x="1066218" y="2829812"/>
                  <a:pt x="1083156" y="2804001"/>
                  <a:pt x="1033004" y="2854153"/>
                </a:cubicBezTo>
                <a:lnTo>
                  <a:pt x="1006223" y="2880934"/>
                </a:lnTo>
                <a:cubicBezTo>
                  <a:pt x="996020" y="2910266"/>
                  <a:pt x="979214" y="2938084"/>
                  <a:pt x="975615" y="2968931"/>
                </a:cubicBezTo>
                <a:cubicBezTo>
                  <a:pt x="973302" y="2988759"/>
                  <a:pt x="955918" y="3198420"/>
                  <a:pt x="933530" y="3271180"/>
                </a:cubicBezTo>
                <a:cubicBezTo>
                  <a:pt x="930506" y="3281007"/>
                  <a:pt x="923327" y="3289035"/>
                  <a:pt x="918226" y="3297962"/>
                </a:cubicBezTo>
                <a:cubicBezTo>
                  <a:pt x="907948" y="3336506"/>
                  <a:pt x="900332" y="3379478"/>
                  <a:pt x="876141" y="3412740"/>
                </a:cubicBezTo>
                <a:cubicBezTo>
                  <a:pt x="871898" y="3418575"/>
                  <a:pt x="865938" y="3422943"/>
                  <a:pt x="860837" y="3428044"/>
                </a:cubicBezTo>
                <a:cubicBezTo>
                  <a:pt x="825133" y="3504552"/>
                  <a:pt x="837210" y="3481800"/>
                  <a:pt x="788144" y="3569604"/>
                </a:cubicBezTo>
                <a:cubicBezTo>
                  <a:pt x="779501" y="3585070"/>
                  <a:pt x="767418" y="3598865"/>
                  <a:pt x="761363" y="3615515"/>
                </a:cubicBezTo>
                <a:cubicBezTo>
                  <a:pt x="743593" y="3664380"/>
                  <a:pt x="756614" y="3647045"/>
                  <a:pt x="730755" y="3672904"/>
                </a:cubicBezTo>
                <a:cubicBezTo>
                  <a:pt x="726929" y="3681831"/>
                  <a:pt x="724492" y="3691492"/>
                  <a:pt x="719277" y="3699686"/>
                </a:cubicBezTo>
                <a:cubicBezTo>
                  <a:pt x="715404" y="3705772"/>
                  <a:pt x="708216" y="3709155"/>
                  <a:pt x="703973" y="3714989"/>
                </a:cubicBezTo>
                <a:cubicBezTo>
                  <a:pt x="697926" y="3723304"/>
                  <a:pt x="693508" y="3732699"/>
                  <a:pt x="688670" y="3741771"/>
                </a:cubicBezTo>
                <a:cubicBezTo>
                  <a:pt x="680405" y="3757268"/>
                  <a:pt x="674681" y="3774889"/>
                  <a:pt x="661888" y="3787682"/>
                </a:cubicBezTo>
                <a:cubicBezTo>
                  <a:pt x="652302" y="3797268"/>
                  <a:pt x="641273" y="3805303"/>
                  <a:pt x="631280" y="3814464"/>
                </a:cubicBezTo>
                <a:cubicBezTo>
                  <a:pt x="625962" y="3819339"/>
                  <a:pt x="621078" y="3824667"/>
                  <a:pt x="615977" y="3829768"/>
                </a:cubicBezTo>
                <a:cubicBezTo>
                  <a:pt x="594456" y="3879981"/>
                  <a:pt x="619838" y="3839186"/>
                  <a:pt x="558588" y="3871853"/>
                </a:cubicBezTo>
                <a:cubicBezTo>
                  <a:pt x="552962" y="3874854"/>
                  <a:pt x="552252" y="3883386"/>
                  <a:pt x="547110" y="3887157"/>
                </a:cubicBezTo>
                <a:cubicBezTo>
                  <a:pt x="532823" y="3897634"/>
                  <a:pt x="516502" y="3905011"/>
                  <a:pt x="501198" y="3913938"/>
                </a:cubicBezTo>
                <a:cubicBezTo>
                  <a:pt x="494147" y="3923340"/>
                  <a:pt x="484325" y="3937941"/>
                  <a:pt x="474417" y="3944546"/>
                </a:cubicBezTo>
                <a:cubicBezTo>
                  <a:pt x="464926" y="3950873"/>
                  <a:pt x="454146" y="3955026"/>
                  <a:pt x="443809" y="3959850"/>
                </a:cubicBezTo>
                <a:cubicBezTo>
                  <a:pt x="395174" y="3982547"/>
                  <a:pt x="438657" y="3959804"/>
                  <a:pt x="374942" y="3986631"/>
                </a:cubicBezTo>
                <a:cubicBezTo>
                  <a:pt x="364429" y="3991057"/>
                  <a:pt x="354848" y="3997508"/>
                  <a:pt x="344335" y="4001935"/>
                </a:cubicBezTo>
                <a:cubicBezTo>
                  <a:pt x="330578" y="4007728"/>
                  <a:pt x="316278" y="4012138"/>
                  <a:pt x="302250" y="4017239"/>
                </a:cubicBezTo>
                <a:cubicBezTo>
                  <a:pt x="254074" y="4053371"/>
                  <a:pt x="320885" y="4005959"/>
                  <a:pt x="187471" y="4059324"/>
                </a:cubicBezTo>
                <a:cubicBezTo>
                  <a:pt x="180773" y="4062003"/>
                  <a:pt x="178254" y="4070755"/>
                  <a:pt x="172168" y="4074628"/>
                </a:cubicBezTo>
                <a:cubicBezTo>
                  <a:pt x="163974" y="4079843"/>
                  <a:pt x="154187" y="4081999"/>
                  <a:pt x="145386" y="4086106"/>
                </a:cubicBezTo>
                <a:cubicBezTo>
                  <a:pt x="135049" y="4090930"/>
                  <a:pt x="125715" y="4098169"/>
                  <a:pt x="114778" y="4101410"/>
                </a:cubicBezTo>
                <a:cubicBezTo>
                  <a:pt x="53376" y="4119603"/>
                  <a:pt x="52674" y="4116713"/>
                  <a:pt x="0" y="411671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4227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TotalTime>
  <Words>276</Words>
  <Application>Microsoft Office PowerPoint</Application>
  <PresentationFormat>Widescreen</PresentationFormat>
  <Paragraphs>41</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vt:lpstr>
      <vt:lpstr>PowerPoint Presentation</vt:lpstr>
      <vt:lpstr>Obligatory “Math” Slide</vt:lpstr>
      <vt:lpstr>Sparse Version</vt:lpstr>
      <vt:lpstr>Optimization</vt:lpstr>
      <vt:lpstr>Results</vt:lpstr>
      <vt:lpstr>Some Terms</vt:lpstr>
      <vt:lpstr>One-pixel attack results</vt:lpstr>
      <vt:lpstr>1,3,5 pixel attacks</vt:lpstr>
      <vt:lpstr>PowerPoint Presentation</vt:lpstr>
      <vt:lpstr>PowerPoint Presentation</vt:lpstr>
      <vt:lpstr>PowerPoint Presentation</vt:lpstr>
      <vt:lpstr>PowerPoint Presentation</vt:lpstr>
      <vt:lpstr>Classifier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Xenios Papademetris</dc:creator>
  <cp:lastModifiedBy>Xenios Papademetris</cp:lastModifiedBy>
  <cp:revision>10</cp:revision>
  <dcterms:created xsi:type="dcterms:W3CDTF">2017-11-30T17:55:02Z</dcterms:created>
  <dcterms:modified xsi:type="dcterms:W3CDTF">2017-11-30T21:35:02Z</dcterms:modified>
</cp:coreProperties>
</file>